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052CBF6-1A1A-46F6-91C1-8B5300CC45A9}" type="datetimeFigureOut">
              <a:rPr lang="en-IN" smtClean="0"/>
              <a:t>08-10-2026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4F64A-7A25-45D0-9BA0-83D405FEF34C}" type="slidenum">
              <a:rPr lang="en-IN" smtClean="0"/>
              <a:t>‹#›</a:t>
            </a:fld>
            <a:endParaRPr lang="en-IN"/>
          </a:p>
        </p:txBody>
      </p:sp>
    </p:spTree>
    <p:extLst>
      <p:ext uri="{BB962C8B-B14F-4D97-AF65-F5344CB8AC3E}">
        <p14:creationId xmlns:p14="http://schemas.microsoft.com/office/powerpoint/2010/main" val="1754818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52CBF6-1A1A-46F6-91C1-8B5300CC45A9}" type="datetimeFigureOut">
              <a:rPr lang="en-IN" smtClean="0"/>
              <a:t>08-10-2026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4F64A-7A25-45D0-9BA0-83D405FEF34C}" type="slidenum">
              <a:rPr lang="en-IN" smtClean="0"/>
              <a:t>‹#›</a:t>
            </a:fld>
            <a:endParaRPr lang="en-IN"/>
          </a:p>
        </p:txBody>
      </p:sp>
    </p:spTree>
    <p:extLst>
      <p:ext uri="{BB962C8B-B14F-4D97-AF65-F5344CB8AC3E}">
        <p14:creationId xmlns:p14="http://schemas.microsoft.com/office/powerpoint/2010/main" val="1705976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52CBF6-1A1A-46F6-91C1-8B5300CC45A9}" type="datetimeFigureOut">
              <a:rPr lang="en-IN" smtClean="0"/>
              <a:t>08-10-2026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4F64A-7A25-45D0-9BA0-83D405FEF34C}" type="slidenum">
              <a:rPr lang="en-IN" smtClean="0"/>
              <a:t>‹#›</a:t>
            </a:fld>
            <a:endParaRPr lang="en-IN"/>
          </a:p>
        </p:txBody>
      </p:sp>
    </p:spTree>
    <p:extLst>
      <p:ext uri="{BB962C8B-B14F-4D97-AF65-F5344CB8AC3E}">
        <p14:creationId xmlns:p14="http://schemas.microsoft.com/office/powerpoint/2010/main" val="1903747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52CBF6-1A1A-46F6-91C1-8B5300CC45A9}" type="datetimeFigureOut">
              <a:rPr lang="en-IN" smtClean="0"/>
              <a:t>08-10-2026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D4F64A-7A25-45D0-9BA0-83D405FEF34C}" type="slidenum">
              <a:rPr lang="en-IN" smtClean="0"/>
              <a:t>‹#›</a:t>
            </a:fld>
            <a:endParaRPr lang="en-IN"/>
          </a:p>
        </p:txBody>
      </p:sp>
    </p:spTree>
    <p:extLst>
      <p:ext uri="{BB962C8B-B14F-4D97-AF65-F5344CB8AC3E}">
        <p14:creationId xmlns:p14="http://schemas.microsoft.com/office/powerpoint/2010/main" val="1107806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52CBF6-1A1A-46F6-91C1-8B5300CC45A9}" type="datetimeFigureOut">
              <a:rPr lang="en-IN" smtClean="0"/>
              <a:t>08-10-2026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7D4F64A-7A25-45D0-9BA0-83D405FEF34C}" type="slidenum">
              <a:rPr lang="en-IN" smtClean="0"/>
              <a:t>‹#›</a:t>
            </a:fld>
            <a:endParaRPr lang="en-IN"/>
          </a:p>
        </p:txBody>
      </p:sp>
    </p:spTree>
    <p:extLst>
      <p:ext uri="{BB962C8B-B14F-4D97-AF65-F5344CB8AC3E}">
        <p14:creationId xmlns:p14="http://schemas.microsoft.com/office/powerpoint/2010/main" val="2741153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52CBF6-1A1A-46F6-91C1-8B5300CC45A9}" type="datetimeFigureOut">
              <a:rPr lang="en-IN" smtClean="0"/>
              <a:t>08-10-2026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D4F64A-7A25-45D0-9BA0-83D405FEF34C}" type="slidenum">
              <a:rPr lang="en-IN" smtClean="0"/>
              <a:t>‹#›</a:t>
            </a:fld>
            <a:endParaRPr lang="en-IN"/>
          </a:p>
        </p:txBody>
      </p:sp>
    </p:spTree>
    <p:extLst>
      <p:ext uri="{BB962C8B-B14F-4D97-AF65-F5344CB8AC3E}">
        <p14:creationId xmlns:p14="http://schemas.microsoft.com/office/powerpoint/2010/main" val="1032900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52CBF6-1A1A-46F6-91C1-8B5300CC45A9}" type="datetimeFigureOut">
              <a:rPr lang="en-IN" smtClean="0"/>
              <a:t>08-10-2026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7D4F64A-7A25-45D0-9BA0-83D405FEF34C}" type="slidenum">
              <a:rPr lang="en-IN" smtClean="0"/>
              <a:t>‹#›</a:t>
            </a:fld>
            <a:endParaRPr lang="en-IN"/>
          </a:p>
        </p:txBody>
      </p:sp>
    </p:spTree>
    <p:extLst>
      <p:ext uri="{BB962C8B-B14F-4D97-AF65-F5344CB8AC3E}">
        <p14:creationId xmlns:p14="http://schemas.microsoft.com/office/powerpoint/2010/main" val="1220252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52CBF6-1A1A-46F6-91C1-8B5300CC45A9}" type="datetimeFigureOut">
              <a:rPr lang="en-IN" smtClean="0"/>
              <a:t>08-10-2026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D4F64A-7A25-45D0-9BA0-83D405FEF34C}" type="slidenum">
              <a:rPr lang="en-IN" smtClean="0"/>
              <a:t>‹#›</a:t>
            </a:fld>
            <a:endParaRPr lang="en-IN"/>
          </a:p>
        </p:txBody>
      </p:sp>
    </p:spTree>
    <p:extLst>
      <p:ext uri="{BB962C8B-B14F-4D97-AF65-F5344CB8AC3E}">
        <p14:creationId xmlns:p14="http://schemas.microsoft.com/office/powerpoint/2010/main" val="1226352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52CBF6-1A1A-46F6-91C1-8B5300CC45A9}" type="datetimeFigureOut">
              <a:rPr lang="en-IN" smtClean="0"/>
              <a:t>08-10-2026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D4F64A-7A25-45D0-9BA0-83D405FEF34C}" type="slidenum">
              <a:rPr lang="en-IN" smtClean="0"/>
              <a:t>‹#›</a:t>
            </a:fld>
            <a:endParaRPr lang="en-IN"/>
          </a:p>
        </p:txBody>
      </p:sp>
    </p:spTree>
    <p:extLst>
      <p:ext uri="{BB962C8B-B14F-4D97-AF65-F5344CB8AC3E}">
        <p14:creationId xmlns:p14="http://schemas.microsoft.com/office/powerpoint/2010/main" val="1580709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52CBF6-1A1A-46F6-91C1-8B5300CC45A9}" type="datetimeFigureOut">
              <a:rPr lang="en-IN" smtClean="0"/>
              <a:t>08-10-2026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4F64A-7A25-45D0-9BA0-83D405FEF34C}" type="slidenum">
              <a:rPr lang="en-IN" smtClean="0"/>
              <a:t>‹#›</a:t>
            </a:fld>
            <a:endParaRPr lang="en-IN"/>
          </a:p>
        </p:txBody>
      </p:sp>
    </p:spTree>
    <p:extLst>
      <p:ext uri="{BB962C8B-B14F-4D97-AF65-F5344CB8AC3E}">
        <p14:creationId xmlns:p14="http://schemas.microsoft.com/office/powerpoint/2010/main" val="3747303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52CBF6-1A1A-46F6-91C1-8B5300CC45A9}" type="datetimeFigureOut">
              <a:rPr lang="en-IN" smtClean="0"/>
              <a:t>08-10-2026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4F64A-7A25-45D0-9BA0-83D405FEF34C}"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559753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52CBF6-1A1A-46F6-91C1-8B5300CC45A9}" type="datetimeFigureOut">
              <a:rPr lang="en-IN" smtClean="0"/>
              <a:t>08-10-2026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4F64A-7A25-45D0-9BA0-83D405FEF34C}" type="slidenum">
              <a:rPr lang="en-IN" smtClean="0"/>
              <a:t>‹#›</a:t>
            </a:fld>
            <a:endParaRPr lang="en-IN"/>
          </a:p>
        </p:txBody>
      </p:sp>
    </p:spTree>
    <p:extLst>
      <p:ext uri="{BB962C8B-B14F-4D97-AF65-F5344CB8AC3E}">
        <p14:creationId xmlns:p14="http://schemas.microsoft.com/office/powerpoint/2010/main" val="158467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52CBF6-1A1A-46F6-91C1-8B5300CC45A9}" type="datetimeFigureOut">
              <a:rPr lang="en-IN" smtClean="0"/>
              <a:t>08-10-2026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4F64A-7A25-45D0-9BA0-83D405FEF34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91845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52CBF6-1A1A-46F6-91C1-8B5300CC45A9}" type="datetimeFigureOut">
              <a:rPr lang="en-IN" smtClean="0"/>
              <a:t>08-10-2026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4F64A-7A25-45D0-9BA0-83D405FEF34C}" type="slidenum">
              <a:rPr lang="en-IN" smtClean="0"/>
              <a:t>‹#›</a:t>
            </a:fld>
            <a:endParaRPr lang="en-IN"/>
          </a:p>
        </p:txBody>
      </p:sp>
    </p:spTree>
    <p:extLst>
      <p:ext uri="{BB962C8B-B14F-4D97-AF65-F5344CB8AC3E}">
        <p14:creationId xmlns:p14="http://schemas.microsoft.com/office/powerpoint/2010/main" val="1307248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52CBF6-1A1A-46F6-91C1-8B5300CC45A9}" type="datetimeFigureOut">
              <a:rPr lang="en-IN" smtClean="0"/>
              <a:t>08-10-2026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4F64A-7A25-45D0-9BA0-83D405FEF34C}" type="slidenum">
              <a:rPr lang="en-IN" smtClean="0"/>
              <a:t>‹#›</a:t>
            </a:fld>
            <a:endParaRPr lang="en-IN"/>
          </a:p>
        </p:txBody>
      </p:sp>
    </p:spTree>
    <p:extLst>
      <p:ext uri="{BB962C8B-B14F-4D97-AF65-F5344CB8AC3E}">
        <p14:creationId xmlns:p14="http://schemas.microsoft.com/office/powerpoint/2010/main" val="31976021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52CBF6-1A1A-46F6-91C1-8B5300CC45A9}" type="datetimeFigureOut">
              <a:rPr lang="en-IN" smtClean="0"/>
              <a:t>08-10-2026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4F64A-7A25-45D0-9BA0-83D405FEF34C}" type="slidenum">
              <a:rPr lang="en-IN" smtClean="0"/>
              <a:t>‹#›</a:t>
            </a:fld>
            <a:endParaRPr lang="en-IN"/>
          </a:p>
        </p:txBody>
      </p:sp>
    </p:spTree>
    <p:extLst>
      <p:ext uri="{BB962C8B-B14F-4D97-AF65-F5344CB8AC3E}">
        <p14:creationId xmlns:p14="http://schemas.microsoft.com/office/powerpoint/2010/main" val="541404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052CBF6-1A1A-46F6-91C1-8B5300CC45A9}" type="datetimeFigureOut">
              <a:rPr lang="en-IN" smtClean="0"/>
              <a:t>08-10-2026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7D4F64A-7A25-45D0-9BA0-83D405FEF34C}" type="slidenum">
              <a:rPr lang="en-IN" smtClean="0"/>
              <a:t>‹#›</a:t>
            </a:fld>
            <a:endParaRPr lang="en-IN"/>
          </a:p>
        </p:txBody>
      </p:sp>
    </p:spTree>
    <p:extLst>
      <p:ext uri="{BB962C8B-B14F-4D97-AF65-F5344CB8AC3E}">
        <p14:creationId xmlns:p14="http://schemas.microsoft.com/office/powerpoint/2010/main" val="1676108223"/>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08D91-F6C0-49A1-A2BC-8529A3B2A727}"/>
              </a:ext>
            </a:extLst>
          </p:cNvPr>
          <p:cNvSpPr>
            <a:spLocks noGrp="1"/>
          </p:cNvSpPr>
          <p:nvPr>
            <p:ph type="ctrTitle"/>
          </p:nvPr>
        </p:nvSpPr>
        <p:spPr>
          <a:xfrm>
            <a:off x="1763486" y="2897262"/>
            <a:ext cx="8791303" cy="1581954"/>
          </a:xfrm>
        </p:spPr>
        <p:txBody>
          <a:bodyPr/>
          <a:lstStyle/>
          <a:p>
            <a:pPr algn="l"/>
            <a:r>
              <a:rPr lang="en-US" sz="4000" b="1" dirty="0"/>
              <a:t>Retail Business Performance &amp; Profitability Analysis</a:t>
            </a:r>
            <a:br>
              <a:rPr lang="en-US" sz="4000" b="1" dirty="0"/>
            </a:br>
            <a:endParaRPr lang="en-IN" sz="4000" b="1" dirty="0"/>
          </a:p>
        </p:txBody>
      </p:sp>
      <p:sp>
        <p:nvSpPr>
          <p:cNvPr id="3" name="Subtitle 2">
            <a:extLst>
              <a:ext uri="{FF2B5EF4-FFF2-40B4-BE49-F238E27FC236}">
                <a16:creationId xmlns:a16="http://schemas.microsoft.com/office/drawing/2014/main" id="{26AEA912-B7AB-457A-95C9-67EDCFE5A4FE}"/>
              </a:ext>
            </a:extLst>
          </p:cNvPr>
          <p:cNvSpPr>
            <a:spLocks noGrp="1"/>
          </p:cNvSpPr>
          <p:nvPr>
            <p:ph type="subTitle" idx="1"/>
          </p:nvPr>
        </p:nvSpPr>
        <p:spPr>
          <a:xfrm>
            <a:off x="1763486" y="4050832"/>
            <a:ext cx="7510517" cy="2558973"/>
          </a:xfrm>
        </p:spPr>
        <p:txBody>
          <a:bodyPr>
            <a:normAutofit/>
          </a:bodyPr>
          <a:lstStyle/>
          <a:p>
            <a:pPr algn="just"/>
            <a:r>
              <a:rPr lang="en-US" sz="1800" b="1" dirty="0"/>
              <a:t>Dashboard Design: </a:t>
            </a:r>
            <a:r>
              <a:rPr lang="en-US" dirty="0">
                <a:cs typeface="Segoe UI" panose="020B0502040204020203" pitchFamily="34" charset="0"/>
              </a:rPr>
              <a:t>An End-to-End Data Analytics Project Using Excel,            SQL, Python &amp; Tableau</a:t>
            </a:r>
          </a:p>
          <a:p>
            <a:pPr algn="just"/>
            <a:r>
              <a:rPr lang="en-US" sz="1800" b="1" dirty="0"/>
              <a:t>Dataset</a:t>
            </a:r>
            <a:r>
              <a:rPr lang="en-US" b="1" dirty="0"/>
              <a:t>: </a:t>
            </a:r>
            <a:r>
              <a:rPr lang="en-US" dirty="0">
                <a:cs typeface="Segoe UI" panose="020B0502040204020203" pitchFamily="34" charset="0"/>
              </a:rPr>
              <a:t>Retail Transaction Datasets</a:t>
            </a:r>
          </a:p>
          <a:p>
            <a:pPr algn="just"/>
            <a:r>
              <a:rPr lang="en-US" b="1" dirty="0"/>
              <a:t>Domain:</a:t>
            </a:r>
            <a:r>
              <a:rPr lang="en-US" dirty="0"/>
              <a:t> </a:t>
            </a:r>
            <a:r>
              <a:rPr lang="en-US" dirty="0">
                <a:cs typeface="Segoe UI" panose="020B0502040204020203" pitchFamily="34" charset="0"/>
              </a:rPr>
              <a:t>Data Analytics / Business Intelligence</a:t>
            </a:r>
            <a:endParaRPr lang="en-US" sz="1800" b="1" dirty="0">
              <a:cs typeface="Segoe UI" panose="020B0502040204020203" pitchFamily="34" charset="0"/>
            </a:endParaRPr>
          </a:p>
          <a:p>
            <a:pPr algn="just"/>
            <a:r>
              <a:rPr lang="en-US" sz="1800" b="1" dirty="0"/>
              <a:t>Prepared by</a:t>
            </a:r>
            <a:r>
              <a:rPr lang="en-US" b="1" dirty="0"/>
              <a:t>: </a:t>
            </a:r>
            <a:r>
              <a:rPr lang="en-US" dirty="0">
                <a:cs typeface="Segoe UI" panose="020B0502040204020203" pitchFamily="34" charset="0"/>
              </a:rPr>
              <a:t>[Nitesh Prajapati]</a:t>
            </a:r>
            <a:endParaRPr lang="en-IN" dirty="0">
              <a:cs typeface="Segoe UI" panose="020B0502040204020203" pitchFamily="34" charset="0"/>
            </a:endParaRPr>
          </a:p>
          <a:p>
            <a:pPr algn="just"/>
            <a:endParaRPr lang="en-IN" sz="1600"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82707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6507A-59A1-4C59-8FD4-704E4004FA51}"/>
              </a:ext>
            </a:extLst>
          </p:cNvPr>
          <p:cNvSpPr>
            <a:spLocks noGrp="1"/>
          </p:cNvSpPr>
          <p:nvPr>
            <p:ph type="title"/>
          </p:nvPr>
        </p:nvSpPr>
        <p:spPr>
          <a:xfrm>
            <a:off x="677334" y="130630"/>
            <a:ext cx="8596668" cy="744582"/>
          </a:xfrm>
        </p:spPr>
        <p:txBody>
          <a:bodyPr>
            <a:normAutofit/>
          </a:bodyPr>
          <a:lstStyle/>
          <a:p>
            <a:r>
              <a:rPr lang="en-IN" dirty="0"/>
              <a:t>Executive Summary</a:t>
            </a:r>
          </a:p>
        </p:txBody>
      </p:sp>
      <p:sp>
        <p:nvSpPr>
          <p:cNvPr id="3" name="Content Placeholder 2">
            <a:extLst>
              <a:ext uri="{FF2B5EF4-FFF2-40B4-BE49-F238E27FC236}">
                <a16:creationId xmlns:a16="http://schemas.microsoft.com/office/drawing/2014/main" id="{D4912433-0D67-444F-BE38-6EB3ED377E3D}"/>
              </a:ext>
            </a:extLst>
          </p:cNvPr>
          <p:cNvSpPr>
            <a:spLocks noGrp="1"/>
          </p:cNvSpPr>
          <p:nvPr>
            <p:ph idx="1"/>
          </p:nvPr>
        </p:nvSpPr>
        <p:spPr>
          <a:xfrm>
            <a:off x="677334" y="1476103"/>
            <a:ext cx="8596668" cy="5381898"/>
          </a:xfrm>
        </p:spPr>
        <p:txBody>
          <a:bodyPr>
            <a:normAutofit/>
          </a:bodyPr>
          <a:lstStyle/>
          <a:p>
            <a:pPr algn="just"/>
            <a:r>
              <a:rPr lang="en-US" sz="1600" dirty="0"/>
              <a:t>This project focuses on analyzing retail transactional data to evaluate overall business performance, profitability, sales trends, customer behavior, regional performance, product profitability, and operational patterns.</a:t>
            </a:r>
            <a:endParaRPr lang="en-IN" sz="1600" dirty="0"/>
          </a:p>
          <a:p>
            <a:pPr algn="just"/>
            <a:r>
              <a:rPr lang="en-US" sz="1600" dirty="0"/>
              <a:t>The analysis was performed using Excel/CSV for data handling, SQL for structured data analysis, Python (Pandas and Seaborn) for data cleaning and exploratory analysis, and Tableau for interactive visualization and dashboard development.</a:t>
            </a:r>
          </a:p>
          <a:p>
            <a:pPr algn="just"/>
            <a:r>
              <a:rPr lang="en-US" sz="1600" dirty="0"/>
              <a:t>The dataset contains approximately 301,000 retail transactions with information related to customers, products, regions, sales, cost, gross profit, inventory days, shipping, payment methods, order status, and customer ratings.</a:t>
            </a:r>
          </a:p>
          <a:p>
            <a:pPr algn="just"/>
            <a:r>
              <a:rPr lang="en-US" sz="1600" dirty="0"/>
              <a:t>The analysis identified key business patterns such as high sales contribution from Electronics and Grocery, strong regional performance from North America, and higher profitability margins within the Books category. The final Tableau dashboard provides interactive KPIs, filters, trends, product profitability analysis, regional analysis, customer-segment analysis, order-status analysis, and inventory-profitability insights.</a:t>
            </a:r>
          </a:p>
          <a:p>
            <a:pPr algn="just"/>
            <a:r>
              <a:rPr lang="en-US" sz="1600" dirty="0"/>
              <a:t>The project demonstrates an end-to-end data analytics workflow from raw transactional data preparation to business insights and interactive dashboard reporting.</a:t>
            </a:r>
          </a:p>
          <a:p>
            <a:endParaRPr lang="en-US" dirty="0"/>
          </a:p>
        </p:txBody>
      </p:sp>
    </p:spTree>
    <p:extLst>
      <p:ext uri="{BB962C8B-B14F-4D97-AF65-F5344CB8AC3E}">
        <p14:creationId xmlns:p14="http://schemas.microsoft.com/office/powerpoint/2010/main" val="1182135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E5291-0BB8-47D9-AC96-817920A82804}"/>
              </a:ext>
            </a:extLst>
          </p:cNvPr>
          <p:cNvSpPr>
            <a:spLocks noGrp="1"/>
          </p:cNvSpPr>
          <p:nvPr>
            <p:ph type="title"/>
          </p:nvPr>
        </p:nvSpPr>
        <p:spPr/>
        <p:txBody>
          <a:bodyPr/>
          <a:lstStyle/>
          <a:p>
            <a:r>
              <a:rPr lang="en-IN" b="1" dirty="0"/>
              <a:t>Project Objective</a:t>
            </a:r>
            <a:endParaRPr lang="en-IN" dirty="0"/>
          </a:p>
        </p:txBody>
      </p:sp>
      <p:sp>
        <p:nvSpPr>
          <p:cNvPr id="3" name="Content Placeholder 2">
            <a:extLst>
              <a:ext uri="{FF2B5EF4-FFF2-40B4-BE49-F238E27FC236}">
                <a16:creationId xmlns:a16="http://schemas.microsoft.com/office/drawing/2014/main" id="{86A952A2-8DFA-42FE-9ADA-7EEA76FF6C4E}"/>
              </a:ext>
            </a:extLst>
          </p:cNvPr>
          <p:cNvSpPr>
            <a:spLocks noGrp="1"/>
          </p:cNvSpPr>
          <p:nvPr>
            <p:ph idx="1"/>
          </p:nvPr>
        </p:nvSpPr>
        <p:spPr>
          <a:xfrm>
            <a:off x="677334" y="1384663"/>
            <a:ext cx="8596668" cy="5473337"/>
          </a:xfrm>
        </p:spPr>
        <p:txBody>
          <a:bodyPr>
            <a:noAutofit/>
          </a:bodyPr>
          <a:lstStyle/>
          <a:p>
            <a:pPr algn="just"/>
            <a:r>
              <a:rPr lang="en-US" sz="1600" dirty="0"/>
              <a:t>The main objective of this project is to analyze retail business data and identify the key factors affecting sales performance and profitability.</a:t>
            </a:r>
          </a:p>
          <a:p>
            <a:pPr algn="just"/>
            <a:r>
              <a:rPr lang="en-US" sz="1600" dirty="0"/>
              <a:t>The project aims to:</a:t>
            </a:r>
          </a:p>
          <a:p>
            <a:pPr algn="just">
              <a:buFont typeface="+mj-lt"/>
              <a:buAutoNum type="arabicPeriod"/>
            </a:pPr>
            <a:r>
              <a:rPr lang="en-US" sz="1600" dirty="0"/>
              <a:t>Analyze overall sales, gross profit, profit margin, orders, quantity, and average order value.</a:t>
            </a:r>
          </a:p>
          <a:p>
            <a:pPr algn="just">
              <a:buFont typeface="+mj-lt"/>
              <a:buAutoNum type="arabicPeriod"/>
            </a:pPr>
            <a:r>
              <a:rPr lang="en-US" sz="1600" dirty="0"/>
              <a:t>Identify the most profitable and highest-selling product categories and product types.</a:t>
            </a:r>
          </a:p>
          <a:p>
            <a:pPr algn="just">
              <a:buFont typeface="+mj-lt"/>
              <a:buAutoNum type="arabicPeriod"/>
            </a:pPr>
            <a:r>
              <a:rPr lang="en-US" sz="1600" dirty="0"/>
              <a:t>Compare sales and profitability across different regions and countries.</a:t>
            </a:r>
          </a:p>
          <a:p>
            <a:pPr algn="just">
              <a:buFont typeface="+mj-lt"/>
              <a:buAutoNum type="arabicPeriod"/>
            </a:pPr>
            <a:r>
              <a:rPr lang="en-US" sz="1600" dirty="0"/>
              <a:t>Analyze monthly and seasonal sales trends.</a:t>
            </a:r>
          </a:p>
          <a:p>
            <a:pPr algn="just">
              <a:buFont typeface="+mj-lt"/>
              <a:buAutoNum type="arabicPeriod"/>
            </a:pPr>
            <a:r>
              <a:rPr lang="en-US" sz="1600" dirty="0"/>
              <a:t>Understand customer-segment performance.</a:t>
            </a:r>
          </a:p>
          <a:p>
            <a:pPr algn="just">
              <a:buFont typeface="+mj-lt"/>
              <a:buAutoNum type="arabicPeriod"/>
            </a:pPr>
            <a:r>
              <a:rPr lang="en-US" sz="1600" dirty="0"/>
              <a:t>Analyze order-status and operational patterns.</a:t>
            </a:r>
          </a:p>
          <a:p>
            <a:pPr algn="just">
              <a:buFont typeface="+mj-lt"/>
              <a:buAutoNum type="arabicPeriod"/>
            </a:pPr>
            <a:r>
              <a:rPr lang="en-US" sz="1600" dirty="0"/>
              <a:t>Examine the relationship between inventory days and profitability.</a:t>
            </a:r>
          </a:p>
          <a:p>
            <a:pPr algn="just">
              <a:buFont typeface="+mj-lt"/>
              <a:buAutoNum type="arabicPeriod"/>
            </a:pPr>
            <a:r>
              <a:rPr lang="en-US" sz="1600" dirty="0"/>
              <a:t>Identify business areas that may require improvement.</a:t>
            </a:r>
          </a:p>
          <a:p>
            <a:pPr algn="just">
              <a:buFont typeface="+mj-lt"/>
              <a:buAutoNum type="arabicPeriod"/>
            </a:pPr>
            <a:r>
              <a:rPr lang="en-US" sz="1600" dirty="0"/>
              <a:t>Develop an interactive Tableau dashboard to help stakeholders monitor business performance and make data-driven decisions.</a:t>
            </a:r>
          </a:p>
        </p:txBody>
      </p:sp>
    </p:spTree>
    <p:extLst>
      <p:ext uri="{BB962C8B-B14F-4D97-AF65-F5344CB8AC3E}">
        <p14:creationId xmlns:p14="http://schemas.microsoft.com/office/powerpoint/2010/main" val="602465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68EEA-5D2A-4309-B1D6-79D730AC8063}"/>
              </a:ext>
            </a:extLst>
          </p:cNvPr>
          <p:cNvSpPr>
            <a:spLocks noGrp="1"/>
          </p:cNvSpPr>
          <p:nvPr>
            <p:ph type="title"/>
          </p:nvPr>
        </p:nvSpPr>
        <p:spPr>
          <a:xfrm>
            <a:off x="677334" y="609600"/>
            <a:ext cx="8596668" cy="814251"/>
          </a:xfrm>
        </p:spPr>
        <p:txBody>
          <a:bodyPr/>
          <a:lstStyle/>
          <a:p>
            <a:r>
              <a:rPr lang="en-IN" dirty="0"/>
              <a:t>Dataset Description</a:t>
            </a:r>
          </a:p>
        </p:txBody>
      </p:sp>
      <p:graphicFrame>
        <p:nvGraphicFramePr>
          <p:cNvPr id="3" name="Table 3">
            <a:extLst>
              <a:ext uri="{FF2B5EF4-FFF2-40B4-BE49-F238E27FC236}">
                <a16:creationId xmlns:a16="http://schemas.microsoft.com/office/drawing/2014/main" id="{69AE9E5A-8975-4468-9D5E-9ECFC7AE7386}"/>
              </a:ext>
            </a:extLst>
          </p:cNvPr>
          <p:cNvGraphicFramePr>
            <a:graphicFrameLocks noGrp="1"/>
          </p:cNvGraphicFramePr>
          <p:nvPr>
            <p:extLst>
              <p:ext uri="{D42A27DB-BD31-4B8C-83A1-F6EECF244321}">
                <p14:modId xmlns:p14="http://schemas.microsoft.com/office/powerpoint/2010/main" val="2839829176"/>
              </p:ext>
            </p:extLst>
          </p:nvPr>
        </p:nvGraphicFramePr>
        <p:xfrm>
          <a:off x="770708" y="1423850"/>
          <a:ext cx="8596668" cy="4824552"/>
        </p:xfrm>
        <a:graphic>
          <a:graphicData uri="http://schemas.openxmlformats.org/drawingml/2006/table">
            <a:tbl>
              <a:tblPr firstRow="1" bandRow="1">
                <a:tableStyleId>{5C22544A-7EE6-4342-B048-85BDC9FD1C3A}</a:tableStyleId>
              </a:tblPr>
              <a:tblGrid>
                <a:gridCol w="4298334">
                  <a:extLst>
                    <a:ext uri="{9D8B030D-6E8A-4147-A177-3AD203B41FA5}">
                      <a16:colId xmlns:a16="http://schemas.microsoft.com/office/drawing/2014/main" val="5277711"/>
                    </a:ext>
                  </a:extLst>
                </a:gridCol>
                <a:gridCol w="4298334">
                  <a:extLst>
                    <a:ext uri="{9D8B030D-6E8A-4147-A177-3AD203B41FA5}">
                      <a16:colId xmlns:a16="http://schemas.microsoft.com/office/drawing/2014/main" val="3879534647"/>
                    </a:ext>
                  </a:extLst>
                </a:gridCol>
              </a:tblGrid>
              <a:tr h="603069">
                <a:tc>
                  <a:txBody>
                    <a:bodyPr/>
                    <a:lstStyle/>
                    <a:p>
                      <a:pPr algn="ctr"/>
                      <a:r>
                        <a:rPr lang="en-IN" dirty="0"/>
                        <a:t>Item</a:t>
                      </a:r>
                    </a:p>
                  </a:txBody>
                  <a:tcPr/>
                </a:tc>
                <a:tc>
                  <a:txBody>
                    <a:bodyPr/>
                    <a:lstStyle/>
                    <a:p>
                      <a:pPr algn="ctr"/>
                      <a:r>
                        <a:rPr lang="en-IN" dirty="0"/>
                        <a:t>Details</a:t>
                      </a:r>
                    </a:p>
                  </a:txBody>
                  <a:tcPr/>
                </a:tc>
                <a:extLst>
                  <a:ext uri="{0D108BD9-81ED-4DB2-BD59-A6C34878D82A}">
                    <a16:rowId xmlns:a16="http://schemas.microsoft.com/office/drawing/2014/main" val="3794916633"/>
                  </a:ext>
                </a:extLst>
              </a:tr>
              <a:tr h="603069">
                <a:tc>
                  <a:txBody>
                    <a:bodyPr/>
                    <a:lstStyle/>
                    <a:p>
                      <a:pPr algn="ctr"/>
                      <a:r>
                        <a:rPr lang="en-IN" dirty="0"/>
                        <a:t>Dataset</a:t>
                      </a:r>
                    </a:p>
                  </a:txBody>
                  <a:tcPr/>
                </a:tc>
                <a:tc>
                  <a:txBody>
                    <a:bodyPr/>
                    <a:lstStyle/>
                    <a:p>
                      <a:pPr algn="ctr"/>
                      <a:r>
                        <a:rPr lang="en-IN" dirty="0"/>
                        <a:t>Retail Transactional Datasets</a:t>
                      </a:r>
                    </a:p>
                  </a:txBody>
                  <a:tcPr/>
                </a:tc>
                <a:extLst>
                  <a:ext uri="{0D108BD9-81ED-4DB2-BD59-A6C34878D82A}">
                    <a16:rowId xmlns:a16="http://schemas.microsoft.com/office/drawing/2014/main" val="68626727"/>
                  </a:ext>
                </a:extLst>
              </a:tr>
              <a:tr h="603069">
                <a:tc>
                  <a:txBody>
                    <a:bodyPr/>
                    <a:lstStyle/>
                    <a:p>
                      <a:pPr algn="ctr"/>
                      <a:r>
                        <a:rPr lang="en-IN" dirty="0"/>
                        <a:t>Records</a:t>
                      </a:r>
                    </a:p>
                  </a:txBody>
                  <a:tcPr/>
                </a:tc>
                <a:tc>
                  <a:txBody>
                    <a:bodyPr/>
                    <a:lstStyle/>
                    <a:p>
                      <a:pPr algn="ctr"/>
                      <a:r>
                        <a:rPr lang="en-IN" dirty="0"/>
                        <a:t>30,1000</a:t>
                      </a:r>
                    </a:p>
                  </a:txBody>
                  <a:tcPr/>
                </a:tc>
                <a:extLst>
                  <a:ext uri="{0D108BD9-81ED-4DB2-BD59-A6C34878D82A}">
                    <a16:rowId xmlns:a16="http://schemas.microsoft.com/office/drawing/2014/main" val="3707674073"/>
                  </a:ext>
                </a:extLst>
              </a:tr>
              <a:tr h="603069">
                <a:tc>
                  <a:txBody>
                    <a:bodyPr/>
                    <a:lstStyle/>
                    <a:p>
                      <a:pPr algn="ctr"/>
                      <a:r>
                        <a:rPr lang="en-IN" dirty="0"/>
                        <a:t>Columns</a:t>
                      </a:r>
                    </a:p>
                  </a:txBody>
                  <a:tcPr/>
                </a:tc>
                <a:tc>
                  <a:txBody>
                    <a:bodyPr/>
                    <a:lstStyle/>
                    <a:p>
                      <a:pPr algn="ctr"/>
                      <a:r>
                        <a:rPr lang="en-IN" dirty="0"/>
                        <a:t>24</a:t>
                      </a:r>
                    </a:p>
                  </a:txBody>
                  <a:tcPr/>
                </a:tc>
                <a:extLst>
                  <a:ext uri="{0D108BD9-81ED-4DB2-BD59-A6C34878D82A}">
                    <a16:rowId xmlns:a16="http://schemas.microsoft.com/office/drawing/2014/main" val="4155521476"/>
                  </a:ext>
                </a:extLst>
              </a:tr>
              <a:tr h="603069">
                <a:tc>
                  <a:txBody>
                    <a:bodyPr/>
                    <a:lstStyle/>
                    <a:p>
                      <a:pPr algn="ctr"/>
                      <a:r>
                        <a:rPr lang="en-IN" dirty="0"/>
                        <a:t>Time Period</a:t>
                      </a:r>
                    </a:p>
                  </a:txBody>
                  <a:tcPr/>
                </a:tc>
                <a:tc>
                  <a:txBody>
                    <a:bodyPr/>
                    <a:lstStyle/>
                    <a:p>
                      <a:pPr algn="ctr"/>
                      <a:r>
                        <a:rPr lang="en-IN" dirty="0"/>
                        <a:t>2023-24</a:t>
                      </a:r>
                    </a:p>
                  </a:txBody>
                  <a:tcPr/>
                </a:tc>
                <a:extLst>
                  <a:ext uri="{0D108BD9-81ED-4DB2-BD59-A6C34878D82A}">
                    <a16:rowId xmlns:a16="http://schemas.microsoft.com/office/drawing/2014/main" val="1356650405"/>
                  </a:ext>
                </a:extLst>
              </a:tr>
              <a:tr h="603069">
                <a:tc>
                  <a:txBody>
                    <a:bodyPr/>
                    <a:lstStyle/>
                    <a:p>
                      <a:pPr algn="ctr"/>
                      <a:r>
                        <a:rPr lang="en-IN" dirty="0"/>
                        <a:t>Data Type</a:t>
                      </a:r>
                    </a:p>
                  </a:txBody>
                  <a:tcPr/>
                </a:tc>
                <a:tc>
                  <a:txBody>
                    <a:bodyPr/>
                    <a:lstStyle/>
                    <a:p>
                      <a:pPr algn="ctr"/>
                      <a:r>
                        <a:rPr lang="en-IN" dirty="0"/>
                        <a:t>Transactional/Business Data</a:t>
                      </a:r>
                    </a:p>
                  </a:txBody>
                  <a:tcPr/>
                </a:tc>
                <a:extLst>
                  <a:ext uri="{0D108BD9-81ED-4DB2-BD59-A6C34878D82A}">
                    <a16:rowId xmlns:a16="http://schemas.microsoft.com/office/drawing/2014/main" val="2960275177"/>
                  </a:ext>
                </a:extLst>
              </a:tr>
              <a:tr h="603069">
                <a:tc>
                  <a:txBody>
                    <a:bodyPr/>
                    <a:lstStyle/>
                    <a:p>
                      <a:pPr algn="ctr"/>
                      <a:r>
                        <a:rPr lang="en-IN" dirty="0"/>
                        <a:t>Domain</a:t>
                      </a:r>
                    </a:p>
                  </a:txBody>
                  <a:tcPr/>
                </a:tc>
                <a:tc>
                  <a:txBody>
                    <a:bodyPr/>
                    <a:lstStyle/>
                    <a:p>
                      <a:pPr algn="ctr"/>
                      <a:r>
                        <a:rPr lang="en-IN" dirty="0"/>
                        <a:t>Retail</a:t>
                      </a:r>
                    </a:p>
                  </a:txBody>
                  <a:tcPr/>
                </a:tc>
                <a:extLst>
                  <a:ext uri="{0D108BD9-81ED-4DB2-BD59-A6C34878D82A}">
                    <a16:rowId xmlns:a16="http://schemas.microsoft.com/office/drawing/2014/main" val="38605363"/>
                  </a:ext>
                </a:extLst>
              </a:tr>
              <a:tr h="603069">
                <a:tc>
                  <a:txBody>
                    <a:bodyPr/>
                    <a:lstStyle/>
                    <a:p>
                      <a:pPr algn="ctr"/>
                      <a:r>
                        <a:rPr lang="en-IN" dirty="0"/>
                        <a:t>Visualization Tool</a:t>
                      </a:r>
                    </a:p>
                  </a:txBody>
                  <a:tcPr/>
                </a:tc>
                <a:tc>
                  <a:txBody>
                    <a:bodyPr/>
                    <a:lstStyle/>
                    <a:p>
                      <a:pPr algn="ctr"/>
                      <a:r>
                        <a:rPr lang="en-IN" dirty="0"/>
                        <a:t>Tableau</a:t>
                      </a:r>
                    </a:p>
                  </a:txBody>
                  <a:tcPr/>
                </a:tc>
                <a:extLst>
                  <a:ext uri="{0D108BD9-81ED-4DB2-BD59-A6C34878D82A}">
                    <a16:rowId xmlns:a16="http://schemas.microsoft.com/office/drawing/2014/main" val="2849074685"/>
                  </a:ext>
                </a:extLst>
              </a:tr>
            </a:tbl>
          </a:graphicData>
        </a:graphic>
      </p:graphicFrame>
      <p:sp>
        <p:nvSpPr>
          <p:cNvPr id="4" name="TextBox 3">
            <a:extLst>
              <a:ext uri="{FF2B5EF4-FFF2-40B4-BE49-F238E27FC236}">
                <a16:creationId xmlns:a16="http://schemas.microsoft.com/office/drawing/2014/main" id="{50B666B2-F671-44E8-97D8-2CBA7892A9D1}"/>
              </a:ext>
            </a:extLst>
          </p:cNvPr>
          <p:cNvSpPr txBox="1"/>
          <p:nvPr/>
        </p:nvSpPr>
        <p:spPr>
          <a:xfrm>
            <a:off x="-1502229" y="426720"/>
            <a:ext cx="587829" cy="36576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1873443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A7605-5C7B-4B03-809E-873A1ED90DCF}"/>
              </a:ext>
            </a:extLst>
          </p:cNvPr>
          <p:cNvSpPr>
            <a:spLocks noGrp="1"/>
          </p:cNvSpPr>
          <p:nvPr>
            <p:ph type="title"/>
          </p:nvPr>
        </p:nvSpPr>
        <p:spPr>
          <a:xfrm>
            <a:off x="677334" y="609600"/>
            <a:ext cx="8596668" cy="801189"/>
          </a:xfrm>
        </p:spPr>
        <p:txBody>
          <a:bodyPr/>
          <a:lstStyle/>
          <a:p>
            <a:r>
              <a:rPr lang="en-IN" dirty="0"/>
              <a:t>Tools &amp; Technologies</a:t>
            </a:r>
          </a:p>
        </p:txBody>
      </p:sp>
      <p:graphicFrame>
        <p:nvGraphicFramePr>
          <p:cNvPr id="3" name="Table 3">
            <a:extLst>
              <a:ext uri="{FF2B5EF4-FFF2-40B4-BE49-F238E27FC236}">
                <a16:creationId xmlns:a16="http://schemas.microsoft.com/office/drawing/2014/main" id="{82D8D5EC-4851-476E-9459-D62EEB97EE8C}"/>
              </a:ext>
            </a:extLst>
          </p:cNvPr>
          <p:cNvGraphicFramePr>
            <a:graphicFrameLocks noGrp="1"/>
          </p:cNvGraphicFramePr>
          <p:nvPr>
            <p:extLst>
              <p:ext uri="{D42A27DB-BD31-4B8C-83A1-F6EECF244321}">
                <p14:modId xmlns:p14="http://schemas.microsoft.com/office/powerpoint/2010/main" val="201424094"/>
              </p:ext>
            </p:extLst>
          </p:nvPr>
        </p:nvGraphicFramePr>
        <p:xfrm>
          <a:off x="783771" y="1410788"/>
          <a:ext cx="8190412" cy="5172888"/>
        </p:xfrm>
        <a:graphic>
          <a:graphicData uri="http://schemas.openxmlformats.org/drawingml/2006/table">
            <a:tbl>
              <a:tblPr firstRow="1" bandRow="1">
                <a:tableStyleId>{5C22544A-7EE6-4342-B048-85BDC9FD1C3A}</a:tableStyleId>
              </a:tblPr>
              <a:tblGrid>
                <a:gridCol w="4095206">
                  <a:extLst>
                    <a:ext uri="{9D8B030D-6E8A-4147-A177-3AD203B41FA5}">
                      <a16:colId xmlns:a16="http://schemas.microsoft.com/office/drawing/2014/main" val="774153802"/>
                    </a:ext>
                  </a:extLst>
                </a:gridCol>
                <a:gridCol w="4095206">
                  <a:extLst>
                    <a:ext uri="{9D8B030D-6E8A-4147-A177-3AD203B41FA5}">
                      <a16:colId xmlns:a16="http://schemas.microsoft.com/office/drawing/2014/main" val="3825226331"/>
                    </a:ext>
                  </a:extLst>
                </a:gridCol>
              </a:tblGrid>
              <a:tr h="738984">
                <a:tc>
                  <a:txBody>
                    <a:bodyPr/>
                    <a:lstStyle/>
                    <a:p>
                      <a:pPr algn="ctr"/>
                      <a:r>
                        <a:rPr lang="en-IN" dirty="0"/>
                        <a:t>Tool</a:t>
                      </a:r>
                    </a:p>
                  </a:txBody>
                  <a:tcPr/>
                </a:tc>
                <a:tc>
                  <a:txBody>
                    <a:bodyPr/>
                    <a:lstStyle/>
                    <a:p>
                      <a:pPr algn="ctr"/>
                      <a:r>
                        <a:rPr lang="en-IN" dirty="0"/>
                        <a:t>Purpose</a:t>
                      </a:r>
                    </a:p>
                  </a:txBody>
                  <a:tcPr/>
                </a:tc>
                <a:extLst>
                  <a:ext uri="{0D108BD9-81ED-4DB2-BD59-A6C34878D82A}">
                    <a16:rowId xmlns:a16="http://schemas.microsoft.com/office/drawing/2014/main" val="3928887151"/>
                  </a:ext>
                </a:extLst>
              </a:tr>
              <a:tr h="738984">
                <a:tc>
                  <a:txBody>
                    <a:bodyPr/>
                    <a:lstStyle/>
                    <a:p>
                      <a:pPr algn="ctr"/>
                      <a:r>
                        <a:rPr lang="en-IN" dirty="0"/>
                        <a:t>Excel/CSV</a:t>
                      </a:r>
                    </a:p>
                  </a:txBody>
                  <a:tcPr/>
                </a:tc>
                <a:tc>
                  <a:txBody>
                    <a:bodyPr/>
                    <a:lstStyle/>
                    <a:p>
                      <a:pPr algn="ctr"/>
                      <a:r>
                        <a:rPr lang="en-IN" dirty="0"/>
                        <a:t>Initial data handling</a:t>
                      </a:r>
                    </a:p>
                  </a:txBody>
                  <a:tcPr/>
                </a:tc>
                <a:extLst>
                  <a:ext uri="{0D108BD9-81ED-4DB2-BD59-A6C34878D82A}">
                    <a16:rowId xmlns:a16="http://schemas.microsoft.com/office/drawing/2014/main" val="2024869"/>
                  </a:ext>
                </a:extLst>
              </a:tr>
              <a:tr h="738984">
                <a:tc>
                  <a:txBody>
                    <a:bodyPr/>
                    <a:lstStyle/>
                    <a:p>
                      <a:pPr algn="ctr"/>
                      <a:r>
                        <a:rPr lang="en-IN" dirty="0"/>
                        <a:t>SQL</a:t>
                      </a:r>
                    </a:p>
                  </a:txBody>
                  <a:tcPr/>
                </a:tc>
                <a:tc>
                  <a:txBody>
                    <a:bodyPr/>
                    <a:lstStyle/>
                    <a:p>
                      <a:pPr algn="ctr"/>
                      <a:r>
                        <a:rPr lang="en-IN" dirty="0"/>
                        <a:t>Data querying and business analysis</a:t>
                      </a:r>
                    </a:p>
                  </a:txBody>
                  <a:tcPr/>
                </a:tc>
                <a:extLst>
                  <a:ext uri="{0D108BD9-81ED-4DB2-BD59-A6C34878D82A}">
                    <a16:rowId xmlns:a16="http://schemas.microsoft.com/office/drawing/2014/main" val="4197374047"/>
                  </a:ext>
                </a:extLst>
              </a:tr>
              <a:tr h="738984">
                <a:tc>
                  <a:txBody>
                    <a:bodyPr/>
                    <a:lstStyle/>
                    <a:p>
                      <a:pPr algn="ctr"/>
                      <a:r>
                        <a:rPr lang="en-IN" dirty="0"/>
                        <a:t>Python</a:t>
                      </a:r>
                    </a:p>
                  </a:txBody>
                  <a:tcPr/>
                </a:tc>
                <a:tc>
                  <a:txBody>
                    <a:bodyPr/>
                    <a:lstStyle/>
                    <a:p>
                      <a:pPr algn="ctr"/>
                      <a:r>
                        <a:rPr lang="en-IN" dirty="0"/>
                        <a:t>Data cleaning &amp; EDA</a:t>
                      </a:r>
                    </a:p>
                  </a:txBody>
                  <a:tcPr/>
                </a:tc>
                <a:extLst>
                  <a:ext uri="{0D108BD9-81ED-4DB2-BD59-A6C34878D82A}">
                    <a16:rowId xmlns:a16="http://schemas.microsoft.com/office/drawing/2014/main" val="889672094"/>
                  </a:ext>
                </a:extLst>
              </a:tr>
              <a:tr h="738984">
                <a:tc>
                  <a:txBody>
                    <a:bodyPr/>
                    <a:lstStyle/>
                    <a:p>
                      <a:pPr algn="ctr"/>
                      <a:r>
                        <a:rPr lang="en-IN" dirty="0"/>
                        <a:t>Pandas</a:t>
                      </a:r>
                    </a:p>
                  </a:txBody>
                  <a:tcPr/>
                </a:tc>
                <a:tc>
                  <a:txBody>
                    <a:bodyPr/>
                    <a:lstStyle/>
                    <a:p>
                      <a:pPr algn="ctr"/>
                      <a:r>
                        <a:rPr lang="en-IN" dirty="0"/>
                        <a:t>Data manipulation</a:t>
                      </a:r>
                    </a:p>
                  </a:txBody>
                  <a:tcPr/>
                </a:tc>
                <a:extLst>
                  <a:ext uri="{0D108BD9-81ED-4DB2-BD59-A6C34878D82A}">
                    <a16:rowId xmlns:a16="http://schemas.microsoft.com/office/drawing/2014/main" val="795253812"/>
                  </a:ext>
                </a:extLst>
              </a:tr>
              <a:tr h="738984">
                <a:tc>
                  <a:txBody>
                    <a:bodyPr/>
                    <a:lstStyle/>
                    <a:p>
                      <a:pPr algn="ctr"/>
                      <a:r>
                        <a:rPr lang="en-IN" dirty="0"/>
                        <a:t>Seaborn/Matplotlib</a:t>
                      </a:r>
                    </a:p>
                  </a:txBody>
                  <a:tcPr/>
                </a:tc>
                <a:tc>
                  <a:txBody>
                    <a:bodyPr/>
                    <a:lstStyle/>
                    <a:p>
                      <a:pPr algn="ctr"/>
                      <a:r>
                        <a:rPr lang="en-IN" dirty="0"/>
                        <a:t>Exploratory visualization </a:t>
                      </a:r>
                    </a:p>
                  </a:txBody>
                  <a:tcPr/>
                </a:tc>
                <a:extLst>
                  <a:ext uri="{0D108BD9-81ED-4DB2-BD59-A6C34878D82A}">
                    <a16:rowId xmlns:a16="http://schemas.microsoft.com/office/drawing/2014/main" val="2891676688"/>
                  </a:ext>
                </a:extLst>
              </a:tr>
              <a:tr h="738984">
                <a:tc>
                  <a:txBody>
                    <a:bodyPr/>
                    <a:lstStyle/>
                    <a:p>
                      <a:pPr algn="ctr"/>
                      <a:r>
                        <a:rPr lang="en-IN" dirty="0"/>
                        <a:t>Tableau</a:t>
                      </a:r>
                    </a:p>
                  </a:txBody>
                  <a:tcPr/>
                </a:tc>
                <a:tc>
                  <a:txBody>
                    <a:bodyPr/>
                    <a:lstStyle/>
                    <a:p>
                      <a:pPr algn="ctr"/>
                      <a:r>
                        <a:rPr lang="en-IN" dirty="0"/>
                        <a:t>Interactive dashboard and visualization</a:t>
                      </a:r>
                    </a:p>
                  </a:txBody>
                  <a:tcPr/>
                </a:tc>
                <a:extLst>
                  <a:ext uri="{0D108BD9-81ED-4DB2-BD59-A6C34878D82A}">
                    <a16:rowId xmlns:a16="http://schemas.microsoft.com/office/drawing/2014/main" val="3376039179"/>
                  </a:ext>
                </a:extLst>
              </a:tr>
            </a:tbl>
          </a:graphicData>
        </a:graphic>
      </p:graphicFrame>
    </p:spTree>
    <p:extLst>
      <p:ext uri="{BB962C8B-B14F-4D97-AF65-F5344CB8AC3E}">
        <p14:creationId xmlns:p14="http://schemas.microsoft.com/office/powerpoint/2010/main" val="3662497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1EA99-9BEE-4C65-A999-C81EC6EBF503}"/>
              </a:ext>
            </a:extLst>
          </p:cNvPr>
          <p:cNvSpPr>
            <a:spLocks noGrp="1"/>
          </p:cNvSpPr>
          <p:nvPr>
            <p:ph type="title"/>
          </p:nvPr>
        </p:nvSpPr>
        <p:spPr>
          <a:xfrm>
            <a:off x="677334" y="609600"/>
            <a:ext cx="8596668" cy="683623"/>
          </a:xfrm>
        </p:spPr>
        <p:txBody>
          <a:bodyPr/>
          <a:lstStyle/>
          <a:p>
            <a:r>
              <a:rPr lang="en-IN" dirty="0"/>
              <a:t>Data Preparation &amp; Cleaning</a:t>
            </a:r>
          </a:p>
        </p:txBody>
      </p:sp>
      <p:sp>
        <p:nvSpPr>
          <p:cNvPr id="3" name="Content Placeholder 2">
            <a:extLst>
              <a:ext uri="{FF2B5EF4-FFF2-40B4-BE49-F238E27FC236}">
                <a16:creationId xmlns:a16="http://schemas.microsoft.com/office/drawing/2014/main" id="{91731BAD-4AB3-4967-9144-268619AA67A1}"/>
              </a:ext>
            </a:extLst>
          </p:cNvPr>
          <p:cNvSpPr>
            <a:spLocks noGrp="1"/>
          </p:cNvSpPr>
          <p:nvPr>
            <p:ph idx="1"/>
          </p:nvPr>
        </p:nvSpPr>
        <p:spPr>
          <a:xfrm>
            <a:off x="677334" y="1293223"/>
            <a:ext cx="8596668" cy="4748139"/>
          </a:xfrm>
        </p:spPr>
        <p:txBody>
          <a:bodyPr/>
          <a:lstStyle/>
          <a:p>
            <a:pPr algn="just"/>
            <a:r>
              <a:rPr lang="en-US" sz="1600" dirty="0"/>
              <a:t>The raw retail dataset was first inspected to understand its structure, data types, missing values, duplicate records, and numerical inconsistencies.</a:t>
            </a:r>
          </a:p>
          <a:p>
            <a:pPr algn="just"/>
            <a:r>
              <a:rPr lang="en-US" sz="1600" dirty="0"/>
              <a:t>The following data preparation activities were performed:</a:t>
            </a:r>
          </a:p>
          <a:p>
            <a:pPr algn="just">
              <a:buFont typeface="Arial" panose="020B0604020202020204" pitchFamily="34" charset="0"/>
              <a:buChar char="•"/>
            </a:pPr>
            <a:r>
              <a:rPr lang="en-US" sz="1600" dirty="0"/>
              <a:t>Checked the dataset structure and column data types.</a:t>
            </a:r>
          </a:p>
          <a:p>
            <a:pPr algn="just">
              <a:buFont typeface="Arial" panose="020B0604020202020204" pitchFamily="34" charset="0"/>
              <a:buChar char="•"/>
            </a:pPr>
            <a:r>
              <a:rPr lang="en-US" sz="1600" dirty="0"/>
              <a:t>Converted </a:t>
            </a:r>
            <a:r>
              <a:rPr lang="en-US" sz="1600" dirty="0" err="1"/>
              <a:t>Order_Date</a:t>
            </a:r>
            <a:r>
              <a:rPr lang="en-US" sz="1600" dirty="0"/>
              <a:t> into a proper datetime format.</a:t>
            </a:r>
          </a:p>
          <a:p>
            <a:pPr algn="just">
              <a:buFont typeface="Arial" panose="020B0604020202020204" pitchFamily="34" charset="0"/>
              <a:buChar char="•"/>
            </a:pPr>
            <a:r>
              <a:rPr lang="en-US" sz="1600" dirty="0"/>
              <a:t>Identified missing values across categorical and numerical columns.</a:t>
            </a:r>
          </a:p>
          <a:p>
            <a:pPr algn="just">
              <a:buFont typeface="Arial" panose="020B0604020202020204" pitchFamily="34" charset="0"/>
              <a:buChar char="•"/>
            </a:pPr>
            <a:r>
              <a:rPr lang="en-US" sz="1600" dirty="0"/>
              <a:t>Replaced appropriate missing categorical values with "Unknown".</a:t>
            </a:r>
          </a:p>
          <a:p>
            <a:pPr algn="just">
              <a:buFont typeface="Arial" panose="020B0604020202020204" pitchFamily="34" charset="0"/>
              <a:buChar char="•"/>
            </a:pPr>
            <a:r>
              <a:rPr lang="en-US" sz="1600" dirty="0"/>
              <a:t>Checked numerical columns for negative or invalid values.</a:t>
            </a:r>
          </a:p>
          <a:p>
            <a:pPr algn="just">
              <a:buFont typeface="Arial" panose="020B0604020202020204" pitchFamily="34" charset="0"/>
              <a:buChar char="•"/>
            </a:pPr>
            <a:r>
              <a:rPr lang="en-US" sz="1600" dirty="0"/>
              <a:t>Reviewed duplicate </a:t>
            </a:r>
            <a:r>
              <a:rPr lang="en-US" sz="1600" dirty="0" err="1"/>
              <a:t>Customer_ID</a:t>
            </a:r>
            <a:r>
              <a:rPr lang="en-US" sz="1600" dirty="0"/>
              <a:t> values and transaction-level consistency.</a:t>
            </a:r>
          </a:p>
          <a:p>
            <a:pPr algn="just">
              <a:buFont typeface="Arial" panose="020B0604020202020204" pitchFamily="34" charset="0"/>
              <a:buChar char="•"/>
            </a:pPr>
            <a:r>
              <a:rPr lang="en-US" sz="1600" dirty="0"/>
              <a:t>Validated sales, COGS, and gross profit fields.</a:t>
            </a:r>
          </a:p>
          <a:p>
            <a:pPr algn="just">
              <a:buFont typeface="Arial" panose="020B0604020202020204" pitchFamily="34" charset="0"/>
              <a:buChar char="•"/>
            </a:pPr>
            <a:r>
              <a:rPr lang="en-US" sz="1600" dirty="0"/>
              <a:t>Prepared the cleaned dataset for SQL analysis, Python EDA, and Tableau visualization.</a:t>
            </a:r>
          </a:p>
          <a:p>
            <a:pPr algn="just"/>
            <a:r>
              <a:rPr lang="en-US" sz="1600" dirty="0"/>
              <a:t>After cleaning, the dataset was suitable for further analysis and dashboard development.</a:t>
            </a:r>
          </a:p>
          <a:p>
            <a:pPr algn="just"/>
            <a:endParaRPr lang="en-US" sz="1600" dirty="0"/>
          </a:p>
          <a:p>
            <a:pPr algn="just"/>
            <a:endParaRPr lang="en-IN" dirty="0"/>
          </a:p>
        </p:txBody>
      </p:sp>
    </p:spTree>
    <p:extLst>
      <p:ext uri="{BB962C8B-B14F-4D97-AF65-F5344CB8AC3E}">
        <p14:creationId xmlns:p14="http://schemas.microsoft.com/office/powerpoint/2010/main" val="104474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72B32-2C60-4DBA-A6F5-76CBD1CA1268}"/>
              </a:ext>
            </a:extLst>
          </p:cNvPr>
          <p:cNvSpPr>
            <a:spLocks noGrp="1"/>
          </p:cNvSpPr>
          <p:nvPr>
            <p:ph type="title"/>
          </p:nvPr>
        </p:nvSpPr>
        <p:spPr>
          <a:xfrm>
            <a:off x="677334" y="609600"/>
            <a:ext cx="8596668" cy="709749"/>
          </a:xfrm>
        </p:spPr>
        <p:txBody>
          <a:bodyPr/>
          <a:lstStyle/>
          <a:p>
            <a:r>
              <a:rPr lang="en-IN" dirty="0"/>
              <a:t>Analytical Approach</a:t>
            </a:r>
          </a:p>
        </p:txBody>
      </p:sp>
      <p:sp>
        <p:nvSpPr>
          <p:cNvPr id="3" name="Rectangle: Rounded Corners 2">
            <a:extLst>
              <a:ext uri="{FF2B5EF4-FFF2-40B4-BE49-F238E27FC236}">
                <a16:creationId xmlns:a16="http://schemas.microsoft.com/office/drawing/2014/main" id="{14DE49C3-FD03-435B-B2B4-FD89937DBD49}"/>
              </a:ext>
            </a:extLst>
          </p:cNvPr>
          <p:cNvSpPr/>
          <p:nvPr/>
        </p:nvSpPr>
        <p:spPr>
          <a:xfrm>
            <a:off x="799115" y="1776560"/>
            <a:ext cx="1434633" cy="10580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Raw Data</a:t>
            </a:r>
          </a:p>
        </p:txBody>
      </p:sp>
      <p:sp>
        <p:nvSpPr>
          <p:cNvPr id="4" name="Rectangle: Rounded Corners 3">
            <a:extLst>
              <a:ext uri="{FF2B5EF4-FFF2-40B4-BE49-F238E27FC236}">
                <a16:creationId xmlns:a16="http://schemas.microsoft.com/office/drawing/2014/main" id="{2B9EAA57-6D34-4307-8733-516AC8B1E108}"/>
              </a:ext>
            </a:extLst>
          </p:cNvPr>
          <p:cNvSpPr/>
          <p:nvPr/>
        </p:nvSpPr>
        <p:spPr>
          <a:xfrm>
            <a:off x="2926081" y="1776560"/>
            <a:ext cx="1552198" cy="10580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Cleaning</a:t>
            </a:r>
          </a:p>
        </p:txBody>
      </p:sp>
      <p:sp>
        <p:nvSpPr>
          <p:cNvPr id="5" name="Rectangle: Rounded Corners 4">
            <a:extLst>
              <a:ext uri="{FF2B5EF4-FFF2-40B4-BE49-F238E27FC236}">
                <a16:creationId xmlns:a16="http://schemas.microsoft.com/office/drawing/2014/main" id="{D2C49CB3-2217-4269-8CF8-E4892AFD4AAE}"/>
              </a:ext>
            </a:extLst>
          </p:cNvPr>
          <p:cNvSpPr/>
          <p:nvPr/>
        </p:nvSpPr>
        <p:spPr>
          <a:xfrm>
            <a:off x="4892766" y="1776560"/>
            <a:ext cx="1655712" cy="10580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SQL Analysis</a:t>
            </a:r>
          </a:p>
        </p:txBody>
      </p:sp>
      <p:sp>
        <p:nvSpPr>
          <p:cNvPr id="6" name="Rectangle: Rounded Corners 5">
            <a:extLst>
              <a:ext uri="{FF2B5EF4-FFF2-40B4-BE49-F238E27FC236}">
                <a16:creationId xmlns:a16="http://schemas.microsoft.com/office/drawing/2014/main" id="{47F92FF7-6981-4EE8-AC49-7F467EBF2494}"/>
              </a:ext>
            </a:extLst>
          </p:cNvPr>
          <p:cNvSpPr/>
          <p:nvPr/>
        </p:nvSpPr>
        <p:spPr>
          <a:xfrm>
            <a:off x="6921266" y="1776560"/>
            <a:ext cx="1491214" cy="10580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Python-EDA</a:t>
            </a:r>
          </a:p>
        </p:txBody>
      </p:sp>
      <p:sp>
        <p:nvSpPr>
          <p:cNvPr id="7" name="Rectangle: Rounded Corners 6">
            <a:extLst>
              <a:ext uri="{FF2B5EF4-FFF2-40B4-BE49-F238E27FC236}">
                <a16:creationId xmlns:a16="http://schemas.microsoft.com/office/drawing/2014/main" id="{FC2398A7-227D-46E6-BF32-13A1C559D060}"/>
              </a:ext>
            </a:extLst>
          </p:cNvPr>
          <p:cNvSpPr/>
          <p:nvPr/>
        </p:nvSpPr>
        <p:spPr>
          <a:xfrm>
            <a:off x="6766560" y="3122024"/>
            <a:ext cx="1645919" cy="11495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Tableau Visualization</a:t>
            </a:r>
          </a:p>
        </p:txBody>
      </p:sp>
      <p:sp>
        <p:nvSpPr>
          <p:cNvPr id="8" name="Rectangle: Rounded Corners 7">
            <a:extLst>
              <a:ext uri="{FF2B5EF4-FFF2-40B4-BE49-F238E27FC236}">
                <a16:creationId xmlns:a16="http://schemas.microsoft.com/office/drawing/2014/main" id="{4B4A69A0-B1EA-4F15-91CE-DD43C77473F0}"/>
              </a:ext>
            </a:extLst>
          </p:cNvPr>
          <p:cNvSpPr/>
          <p:nvPr/>
        </p:nvSpPr>
        <p:spPr>
          <a:xfrm>
            <a:off x="5133703" y="3108960"/>
            <a:ext cx="1340239" cy="11756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Business Insights</a:t>
            </a:r>
          </a:p>
        </p:txBody>
      </p:sp>
      <p:sp>
        <p:nvSpPr>
          <p:cNvPr id="9" name="Rectangle: Rounded Corners 8">
            <a:extLst>
              <a:ext uri="{FF2B5EF4-FFF2-40B4-BE49-F238E27FC236}">
                <a16:creationId xmlns:a16="http://schemas.microsoft.com/office/drawing/2014/main" id="{7323430B-2C88-464E-AECE-17BE8EB96947}"/>
              </a:ext>
            </a:extLst>
          </p:cNvPr>
          <p:cNvSpPr/>
          <p:nvPr/>
        </p:nvSpPr>
        <p:spPr>
          <a:xfrm>
            <a:off x="2683121" y="3122025"/>
            <a:ext cx="2209645" cy="11821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Recommendation</a:t>
            </a:r>
          </a:p>
        </p:txBody>
      </p:sp>
      <p:cxnSp>
        <p:nvCxnSpPr>
          <p:cNvPr id="17" name="Straight Arrow Connector 16">
            <a:extLst>
              <a:ext uri="{FF2B5EF4-FFF2-40B4-BE49-F238E27FC236}">
                <a16:creationId xmlns:a16="http://schemas.microsoft.com/office/drawing/2014/main" id="{5D2AF0C3-35EF-406D-A3DB-ADC89F52B387}"/>
              </a:ext>
            </a:extLst>
          </p:cNvPr>
          <p:cNvCxnSpPr>
            <a:stCxn id="3" idx="3"/>
            <a:endCxn id="4" idx="1"/>
          </p:cNvCxnSpPr>
          <p:nvPr/>
        </p:nvCxnSpPr>
        <p:spPr>
          <a:xfrm>
            <a:off x="2233748" y="2305603"/>
            <a:ext cx="6923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4159904-6508-4125-B694-693866ADE758}"/>
              </a:ext>
            </a:extLst>
          </p:cNvPr>
          <p:cNvCxnSpPr>
            <a:stCxn id="4" idx="3"/>
            <a:endCxn id="5" idx="1"/>
          </p:cNvCxnSpPr>
          <p:nvPr/>
        </p:nvCxnSpPr>
        <p:spPr>
          <a:xfrm>
            <a:off x="4478279" y="2305603"/>
            <a:ext cx="4144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F5C1CE0-6328-4424-9FDF-98F84AE4316D}"/>
              </a:ext>
            </a:extLst>
          </p:cNvPr>
          <p:cNvCxnSpPr>
            <a:stCxn id="5" idx="3"/>
            <a:endCxn id="6" idx="1"/>
          </p:cNvCxnSpPr>
          <p:nvPr/>
        </p:nvCxnSpPr>
        <p:spPr>
          <a:xfrm>
            <a:off x="6548478" y="2305603"/>
            <a:ext cx="3727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C411C588-F944-40E0-A93D-A003A1166587}"/>
              </a:ext>
            </a:extLst>
          </p:cNvPr>
          <p:cNvCxnSpPr>
            <a:stCxn id="6" idx="3"/>
          </p:cNvCxnSpPr>
          <p:nvPr/>
        </p:nvCxnSpPr>
        <p:spPr>
          <a:xfrm>
            <a:off x="8412480" y="2305603"/>
            <a:ext cx="718457" cy="131280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73DA66D-BAFD-4AD2-AC6C-1F34F4A0CB58}"/>
              </a:ext>
            </a:extLst>
          </p:cNvPr>
          <p:cNvCxnSpPr/>
          <p:nvPr/>
        </p:nvCxnSpPr>
        <p:spPr>
          <a:xfrm flipH="1">
            <a:off x="8412480" y="3618411"/>
            <a:ext cx="7184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172D156-FD8F-4E26-9B7B-FA3BB3393256}"/>
              </a:ext>
            </a:extLst>
          </p:cNvPr>
          <p:cNvCxnSpPr>
            <a:cxnSpLocks/>
            <a:stCxn id="7" idx="1"/>
            <a:endCxn id="8" idx="3"/>
          </p:cNvCxnSpPr>
          <p:nvPr/>
        </p:nvCxnSpPr>
        <p:spPr>
          <a:xfrm flipH="1" flipV="1">
            <a:off x="6473942" y="3696789"/>
            <a:ext cx="29261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9FAD1E0-AE36-47F5-8E7E-4D9BB5097E3B}"/>
              </a:ext>
            </a:extLst>
          </p:cNvPr>
          <p:cNvCxnSpPr>
            <a:cxnSpLocks/>
            <a:stCxn id="8" idx="1"/>
            <a:endCxn id="9" idx="3"/>
          </p:cNvCxnSpPr>
          <p:nvPr/>
        </p:nvCxnSpPr>
        <p:spPr>
          <a:xfrm flipH="1">
            <a:off x="4892766" y="3696789"/>
            <a:ext cx="240937" cy="16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Rectangle: Rounded Corners 61">
            <a:extLst>
              <a:ext uri="{FF2B5EF4-FFF2-40B4-BE49-F238E27FC236}">
                <a16:creationId xmlns:a16="http://schemas.microsoft.com/office/drawing/2014/main" id="{F57255A2-3011-4197-9A6D-1E3E17776BDA}"/>
              </a:ext>
            </a:extLst>
          </p:cNvPr>
          <p:cNvSpPr/>
          <p:nvPr/>
        </p:nvSpPr>
        <p:spPr>
          <a:xfrm>
            <a:off x="799115" y="3122024"/>
            <a:ext cx="1591388" cy="11821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Conclusion</a:t>
            </a:r>
          </a:p>
        </p:txBody>
      </p:sp>
      <p:cxnSp>
        <p:nvCxnSpPr>
          <p:cNvPr id="64" name="Straight Arrow Connector 63">
            <a:extLst>
              <a:ext uri="{FF2B5EF4-FFF2-40B4-BE49-F238E27FC236}">
                <a16:creationId xmlns:a16="http://schemas.microsoft.com/office/drawing/2014/main" id="{8D9E5FB2-4572-433B-A973-7001A4DE3BFF}"/>
              </a:ext>
            </a:extLst>
          </p:cNvPr>
          <p:cNvCxnSpPr>
            <a:cxnSpLocks/>
            <a:stCxn id="9" idx="1"/>
            <a:endCxn id="62" idx="3"/>
          </p:cNvCxnSpPr>
          <p:nvPr/>
        </p:nvCxnSpPr>
        <p:spPr>
          <a:xfrm flipH="1" flipV="1">
            <a:off x="2390503" y="3713117"/>
            <a:ext cx="292618"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683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32B43-AE36-4913-8F35-02B546C6E04A}"/>
              </a:ext>
            </a:extLst>
          </p:cNvPr>
          <p:cNvSpPr>
            <a:spLocks noGrp="1"/>
          </p:cNvSpPr>
          <p:nvPr>
            <p:ph type="title"/>
          </p:nvPr>
        </p:nvSpPr>
        <p:spPr>
          <a:xfrm>
            <a:off x="677334" y="609600"/>
            <a:ext cx="8596668" cy="748937"/>
          </a:xfrm>
        </p:spPr>
        <p:txBody>
          <a:bodyPr/>
          <a:lstStyle/>
          <a:p>
            <a:r>
              <a:rPr lang="en-IN" dirty="0"/>
              <a:t>SQL Analysis</a:t>
            </a:r>
          </a:p>
        </p:txBody>
      </p:sp>
      <p:sp>
        <p:nvSpPr>
          <p:cNvPr id="3" name="TextBox 2">
            <a:extLst>
              <a:ext uri="{FF2B5EF4-FFF2-40B4-BE49-F238E27FC236}">
                <a16:creationId xmlns:a16="http://schemas.microsoft.com/office/drawing/2014/main" id="{D418A2CB-1360-41DC-8682-8C064C04D618}"/>
              </a:ext>
            </a:extLst>
          </p:cNvPr>
          <p:cNvSpPr txBox="1"/>
          <p:nvPr/>
        </p:nvSpPr>
        <p:spPr>
          <a:xfrm>
            <a:off x="677334" y="1358537"/>
            <a:ext cx="8596668" cy="5539978"/>
          </a:xfrm>
          <a:prstGeom prst="rect">
            <a:avLst/>
          </a:prstGeom>
          <a:noFill/>
        </p:spPr>
        <p:txBody>
          <a:bodyPr wrap="square" rtlCol="0">
            <a:spAutoFit/>
          </a:bodyPr>
          <a:lstStyle/>
          <a:p>
            <a:pPr marL="342900" indent="-342900" algn="just">
              <a:buFont typeface="Wingdings" panose="05000000000000000000" pitchFamily="2" charset="2"/>
              <a:buChar char="v"/>
            </a:pPr>
            <a:r>
              <a:rPr lang="en-US" sz="2400" dirty="0"/>
              <a:t>SQL was used to perform structured business analysis on the cleaned retail dataset.</a:t>
            </a:r>
          </a:p>
          <a:p>
            <a:pPr marL="342900" indent="-342900" algn="just">
              <a:buFont typeface="Wingdings" panose="05000000000000000000" pitchFamily="2" charset="2"/>
              <a:buChar char="v"/>
            </a:pPr>
            <a:r>
              <a:rPr lang="en-US" sz="2400" dirty="0"/>
              <a:t>The analysis focused on:</a:t>
            </a:r>
          </a:p>
          <a:p>
            <a:pPr marL="342900" indent="-342900" algn="just">
              <a:buFont typeface="Wingdings" panose="05000000000000000000" pitchFamily="2" charset="2"/>
              <a:buChar char="v"/>
            </a:pPr>
            <a:r>
              <a:rPr lang="en-US" sz="2400" dirty="0"/>
              <a:t>Total sales and gross profit calculation</a:t>
            </a:r>
          </a:p>
          <a:p>
            <a:pPr marL="342900" indent="-342900" algn="just">
              <a:buFont typeface="Wingdings" panose="05000000000000000000" pitchFamily="2" charset="2"/>
              <a:buChar char="v"/>
            </a:pPr>
            <a:r>
              <a:rPr lang="en-US" sz="2400" dirty="0"/>
              <a:t>Category-wise sales and profitability</a:t>
            </a:r>
          </a:p>
          <a:p>
            <a:pPr marL="342900" indent="-342900" algn="just">
              <a:buFont typeface="Wingdings" panose="05000000000000000000" pitchFamily="2" charset="2"/>
              <a:buChar char="v"/>
            </a:pPr>
            <a:r>
              <a:rPr lang="en-US" sz="2400" dirty="0"/>
              <a:t>Regional sales performance</a:t>
            </a:r>
          </a:p>
          <a:p>
            <a:pPr marL="342900" indent="-342900" algn="just">
              <a:buFont typeface="Wingdings" panose="05000000000000000000" pitchFamily="2" charset="2"/>
              <a:buChar char="v"/>
            </a:pPr>
            <a:r>
              <a:rPr lang="en-US" sz="2400" dirty="0"/>
              <a:t>Product-level profitability</a:t>
            </a:r>
          </a:p>
          <a:p>
            <a:pPr marL="342900" indent="-342900" algn="just">
              <a:buFont typeface="Wingdings" panose="05000000000000000000" pitchFamily="2" charset="2"/>
              <a:buChar char="v"/>
            </a:pPr>
            <a:r>
              <a:rPr lang="en-US" sz="2400" dirty="0"/>
              <a:t>Monthly sales trends</a:t>
            </a:r>
          </a:p>
          <a:p>
            <a:pPr marL="342900" indent="-342900" algn="just">
              <a:buFont typeface="Wingdings" panose="05000000000000000000" pitchFamily="2" charset="2"/>
              <a:buChar char="v"/>
            </a:pPr>
            <a:r>
              <a:rPr lang="en-US" sz="2400" dirty="0"/>
              <a:t>Customer-segment performance</a:t>
            </a:r>
          </a:p>
          <a:p>
            <a:pPr marL="342900" indent="-342900" algn="just">
              <a:buFont typeface="Wingdings" panose="05000000000000000000" pitchFamily="2" charset="2"/>
              <a:buChar char="v"/>
            </a:pPr>
            <a:r>
              <a:rPr lang="en-US" sz="2400" dirty="0"/>
              <a:t>Order-status analysis</a:t>
            </a:r>
          </a:p>
          <a:p>
            <a:pPr marL="342900" indent="-342900" algn="just">
              <a:buFont typeface="Wingdings" panose="05000000000000000000" pitchFamily="2" charset="2"/>
              <a:buChar char="v"/>
            </a:pPr>
            <a:r>
              <a:rPr lang="en-US" sz="2400" dirty="0"/>
              <a:t>Aggregation and ranking of products based on gross profit</a:t>
            </a:r>
          </a:p>
          <a:p>
            <a:pPr marL="342900" indent="-342900" algn="just">
              <a:buFont typeface="Wingdings" panose="05000000000000000000" pitchFamily="2" charset="2"/>
              <a:buChar char="v"/>
            </a:pPr>
            <a:r>
              <a:rPr lang="en-US" sz="2400" dirty="0"/>
              <a:t>SQL helped transform transaction-level data into meaningful business-level metrics that could later be visualized in Tableau.</a:t>
            </a:r>
            <a:endParaRPr lang="en-IN" sz="2400" dirty="0"/>
          </a:p>
          <a:p>
            <a:pPr marL="285750" indent="-285750" algn="just">
              <a:buFont typeface="Wingdings" panose="05000000000000000000" pitchFamily="2" charset="2"/>
              <a:buChar char="v"/>
            </a:pPr>
            <a:endParaRPr lang="en-IN" dirty="0"/>
          </a:p>
        </p:txBody>
      </p:sp>
    </p:spTree>
    <p:extLst>
      <p:ext uri="{BB962C8B-B14F-4D97-AF65-F5344CB8AC3E}">
        <p14:creationId xmlns:p14="http://schemas.microsoft.com/office/powerpoint/2010/main" val="817530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B31F3-4500-4973-9E0A-8E7868047CDE}"/>
              </a:ext>
            </a:extLst>
          </p:cNvPr>
          <p:cNvSpPr>
            <a:spLocks noGrp="1"/>
          </p:cNvSpPr>
          <p:nvPr>
            <p:ph type="title"/>
          </p:nvPr>
        </p:nvSpPr>
        <p:spPr>
          <a:xfrm>
            <a:off x="677334" y="609600"/>
            <a:ext cx="8596668" cy="775063"/>
          </a:xfrm>
        </p:spPr>
        <p:txBody>
          <a:bodyPr/>
          <a:lstStyle/>
          <a:p>
            <a:r>
              <a:rPr lang="en-IN" dirty="0"/>
              <a:t>Python Exploratory Data Analysis</a:t>
            </a:r>
          </a:p>
        </p:txBody>
      </p:sp>
      <p:sp>
        <p:nvSpPr>
          <p:cNvPr id="4" name="TextBox 3">
            <a:extLst>
              <a:ext uri="{FF2B5EF4-FFF2-40B4-BE49-F238E27FC236}">
                <a16:creationId xmlns:a16="http://schemas.microsoft.com/office/drawing/2014/main" id="{30F70E01-F097-4861-A814-96CCDBB9DD05}"/>
              </a:ext>
            </a:extLst>
          </p:cNvPr>
          <p:cNvSpPr txBox="1"/>
          <p:nvPr/>
        </p:nvSpPr>
        <p:spPr>
          <a:xfrm>
            <a:off x="677334" y="1486275"/>
            <a:ext cx="8074780" cy="5262979"/>
          </a:xfrm>
          <a:prstGeom prst="rect">
            <a:avLst/>
          </a:prstGeom>
          <a:noFill/>
        </p:spPr>
        <p:txBody>
          <a:bodyPr wrap="square" rtlCol="0">
            <a:spAutoFit/>
          </a:bodyPr>
          <a:lstStyle/>
          <a:p>
            <a:pPr marL="457200" indent="-457200" algn="just">
              <a:buFont typeface="Wingdings" panose="05000000000000000000" pitchFamily="2" charset="2"/>
              <a:buChar char="v"/>
            </a:pPr>
            <a:r>
              <a:rPr lang="en-US" sz="2800" dirty="0"/>
              <a:t>Python was used for exploratory data analysis after the data-cleaning stage.</a:t>
            </a:r>
          </a:p>
          <a:p>
            <a:pPr marL="457200" indent="-457200" algn="just">
              <a:buFont typeface="Wingdings" panose="05000000000000000000" pitchFamily="2" charset="2"/>
              <a:buChar char="v"/>
            </a:pPr>
            <a:r>
              <a:rPr lang="en-US" sz="2800" dirty="0"/>
              <a:t>Using Pandas, the dataset was inspected, transformed, and aggregated to identify important business patterns. Seaborn and Matplotlib were used to explore sales, profitability, regional performance, product categories, and other business variables.</a:t>
            </a:r>
          </a:p>
          <a:p>
            <a:pPr marL="457200" indent="-457200" algn="just">
              <a:buFont typeface="Wingdings" panose="05000000000000000000" pitchFamily="2" charset="2"/>
              <a:buChar char="v"/>
            </a:pPr>
            <a:r>
              <a:rPr lang="en-US" sz="2800" dirty="0"/>
              <a:t>The exploratory analysis helped identify patterns and potential business insights before developing the final Tableau dashboard.</a:t>
            </a:r>
          </a:p>
        </p:txBody>
      </p:sp>
    </p:spTree>
    <p:extLst>
      <p:ext uri="{BB962C8B-B14F-4D97-AF65-F5344CB8AC3E}">
        <p14:creationId xmlns:p14="http://schemas.microsoft.com/office/powerpoint/2010/main" val="2220945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35BD8-E955-4026-AEAB-BB21C727B6DC}"/>
              </a:ext>
            </a:extLst>
          </p:cNvPr>
          <p:cNvSpPr>
            <a:spLocks noGrp="1"/>
          </p:cNvSpPr>
          <p:nvPr>
            <p:ph type="title"/>
          </p:nvPr>
        </p:nvSpPr>
        <p:spPr>
          <a:xfrm>
            <a:off x="0" y="1"/>
            <a:ext cx="9274002" cy="365760"/>
          </a:xfrm>
        </p:spPr>
        <p:txBody>
          <a:bodyPr>
            <a:normAutofit fontScale="90000"/>
          </a:bodyPr>
          <a:lstStyle/>
          <a:p>
            <a:r>
              <a:rPr lang="en-IN" sz="2400" dirty="0"/>
              <a:t>   Dashboard Visualizations</a:t>
            </a:r>
          </a:p>
        </p:txBody>
      </p:sp>
      <p:pic>
        <p:nvPicPr>
          <p:cNvPr id="8" name="Picture 7">
            <a:extLst>
              <a:ext uri="{FF2B5EF4-FFF2-40B4-BE49-F238E27FC236}">
                <a16:creationId xmlns:a16="http://schemas.microsoft.com/office/drawing/2014/main" id="{7EF7D406-28EE-423F-BD78-9D7D0684B1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 y="365761"/>
            <a:ext cx="12100560" cy="6490565"/>
          </a:xfrm>
          <a:prstGeom prst="rect">
            <a:avLst/>
          </a:prstGeom>
        </p:spPr>
      </p:pic>
    </p:spTree>
    <p:extLst>
      <p:ext uri="{BB962C8B-B14F-4D97-AF65-F5344CB8AC3E}">
        <p14:creationId xmlns:p14="http://schemas.microsoft.com/office/powerpoint/2010/main" val="4068072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FAE75-0759-430F-9D1A-90716507CF42}"/>
              </a:ext>
            </a:extLst>
          </p:cNvPr>
          <p:cNvSpPr>
            <a:spLocks noGrp="1"/>
          </p:cNvSpPr>
          <p:nvPr>
            <p:ph type="title"/>
          </p:nvPr>
        </p:nvSpPr>
        <p:spPr>
          <a:xfrm>
            <a:off x="677334" y="0"/>
            <a:ext cx="8596668" cy="770709"/>
          </a:xfrm>
        </p:spPr>
        <p:txBody>
          <a:bodyPr/>
          <a:lstStyle/>
          <a:p>
            <a:pPr algn="just"/>
            <a:r>
              <a:rPr lang="en-IN" dirty="0"/>
              <a:t>Key Business Insights</a:t>
            </a:r>
          </a:p>
        </p:txBody>
      </p:sp>
      <p:sp>
        <p:nvSpPr>
          <p:cNvPr id="3" name="TextBox 2">
            <a:extLst>
              <a:ext uri="{FF2B5EF4-FFF2-40B4-BE49-F238E27FC236}">
                <a16:creationId xmlns:a16="http://schemas.microsoft.com/office/drawing/2014/main" id="{6607ED7C-D486-4ABC-A10F-B500CE487F32}"/>
              </a:ext>
            </a:extLst>
          </p:cNvPr>
          <p:cNvSpPr txBox="1"/>
          <p:nvPr/>
        </p:nvSpPr>
        <p:spPr>
          <a:xfrm>
            <a:off x="677334" y="496390"/>
            <a:ext cx="8140095" cy="5324535"/>
          </a:xfrm>
          <a:prstGeom prst="rect">
            <a:avLst/>
          </a:prstGeom>
          <a:noFill/>
        </p:spPr>
        <p:txBody>
          <a:bodyPr wrap="square" rtlCol="0">
            <a:spAutoFit/>
          </a:bodyPr>
          <a:lstStyle/>
          <a:p>
            <a:pPr marL="342900" indent="-342900" algn="just">
              <a:buFont typeface="Wingdings" panose="05000000000000000000" pitchFamily="2" charset="2"/>
              <a:buChar char="v"/>
            </a:pPr>
            <a:endParaRPr lang="en-US" sz="2000" b="1" dirty="0"/>
          </a:p>
          <a:p>
            <a:pPr marL="342900" indent="-342900" algn="just">
              <a:buFont typeface="Wingdings" panose="05000000000000000000" pitchFamily="2" charset="2"/>
              <a:buChar char="v"/>
            </a:pPr>
            <a:r>
              <a:rPr lang="en-US" sz="2000" b="1" dirty="0"/>
              <a:t>Overall Performance</a:t>
            </a:r>
          </a:p>
          <a:p>
            <a:pPr marL="342900" indent="-342900" algn="just">
              <a:buFont typeface="Wingdings" panose="05000000000000000000" pitchFamily="2" charset="2"/>
              <a:buChar char="v"/>
            </a:pPr>
            <a:r>
              <a:rPr lang="en-US" sz="2000" b="1" dirty="0">
                <a:latin typeface="Segoe UI" panose="020B0502040204020203" pitchFamily="34" charset="0"/>
                <a:cs typeface="Segoe UI" panose="020B0502040204020203" pitchFamily="34" charset="0"/>
              </a:rPr>
              <a:t>₹411.79M </a:t>
            </a:r>
            <a:r>
              <a:rPr lang="en-US" sz="2000" dirty="0">
                <a:latin typeface="Segoe UI" panose="020B0502040204020203" pitchFamily="34" charset="0"/>
                <a:cs typeface="Segoe UI" panose="020B0502040204020203" pitchFamily="34" charset="0"/>
              </a:rPr>
              <a:t>Sales and </a:t>
            </a:r>
            <a:r>
              <a:rPr lang="en-US" sz="2000" b="1" dirty="0">
                <a:latin typeface="Segoe UI" panose="020B0502040204020203" pitchFamily="34" charset="0"/>
                <a:cs typeface="Segoe UI" panose="020B0502040204020203" pitchFamily="34" charset="0"/>
              </a:rPr>
              <a:t>₹131.28M </a:t>
            </a:r>
            <a:r>
              <a:rPr lang="en-US" sz="2000" dirty="0">
                <a:latin typeface="Segoe UI" panose="020B0502040204020203" pitchFamily="34" charset="0"/>
                <a:cs typeface="Segoe UI" panose="020B0502040204020203" pitchFamily="34" charset="0"/>
              </a:rPr>
              <a:t>Gross Profit indicate strong overall business performance.</a:t>
            </a:r>
          </a:p>
          <a:p>
            <a:pPr marL="342900" indent="-342900" algn="just">
              <a:buFont typeface="Wingdings" panose="05000000000000000000" pitchFamily="2" charset="2"/>
              <a:buChar char="v"/>
            </a:pPr>
            <a:r>
              <a:rPr lang="en-US" sz="2000" b="1" dirty="0"/>
              <a:t>Category Performance</a:t>
            </a:r>
          </a:p>
          <a:p>
            <a:pPr marL="342900" indent="-342900" algn="just">
              <a:buFont typeface="Wingdings" panose="05000000000000000000" pitchFamily="2" charset="2"/>
              <a:buChar char="v"/>
            </a:pPr>
            <a:r>
              <a:rPr lang="en-US" sz="2000" dirty="0">
                <a:latin typeface="Segoe UI" panose="020B0502040204020203" pitchFamily="34" charset="0"/>
                <a:cs typeface="Segoe UI" panose="020B0502040204020203" pitchFamily="34" charset="0"/>
              </a:rPr>
              <a:t>Electronics generated the highest category sales at approximately </a:t>
            </a:r>
            <a:r>
              <a:rPr lang="en-US" sz="2000" b="1" dirty="0">
                <a:latin typeface="Segoe UI" panose="020B0502040204020203" pitchFamily="34" charset="0"/>
                <a:cs typeface="Segoe UI" panose="020B0502040204020203" pitchFamily="34" charset="0"/>
              </a:rPr>
              <a:t>₹97.35M</a:t>
            </a:r>
            <a:r>
              <a:rPr lang="en-US" sz="2000" dirty="0">
                <a:latin typeface="Segoe UI" panose="020B0502040204020203" pitchFamily="34" charset="0"/>
                <a:cs typeface="Segoe UI" panose="020B0502040204020203" pitchFamily="34" charset="0"/>
              </a:rPr>
              <a:t>.</a:t>
            </a:r>
          </a:p>
          <a:p>
            <a:pPr marL="342900" indent="-342900" algn="just">
              <a:buFont typeface="Wingdings" panose="05000000000000000000" pitchFamily="2" charset="2"/>
              <a:buChar char="v"/>
            </a:pPr>
            <a:r>
              <a:rPr lang="en-US" sz="2000" b="1" dirty="0"/>
              <a:t>Profitability</a:t>
            </a:r>
          </a:p>
          <a:p>
            <a:pPr marL="342900" indent="-342900" algn="just">
              <a:buFont typeface="Wingdings" panose="05000000000000000000" pitchFamily="2" charset="2"/>
              <a:buChar char="v"/>
            </a:pPr>
            <a:r>
              <a:rPr lang="en-US" sz="2000" b="1" dirty="0">
                <a:latin typeface="Segoe UI" panose="020B0502040204020203" pitchFamily="34" charset="0"/>
                <a:cs typeface="Segoe UI" panose="020B0502040204020203" pitchFamily="34" charset="0"/>
              </a:rPr>
              <a:t>Books</a:t>
            </a:r>
            <a:r>
              <a:rPr lang="en-US" sz="2000" dirty="0">
                <a:latin typeface="Segoe UI" panose="020B0502040204020203" pitchFamily="34" charset="0"/>
                <a:cs typeface="Segoe UI" panose="020B0502040204020203" pitchFamily="34" charset="0"/>
              </a:rPr>
              <a:t> achieved the highest category profit margin at approximately </a:t>
            </a:r>
            <a:r>
              <a:rPr lang="en-US" sz="2000" b="1" dirty="0">
                <a:latin typeface="Segoe UI" panose="020B0502040204020203" pitchFamily="34" charset="0"/>
                <a:cs typeface="Segoe UI" panose="020B0502040204020203" pitchFamily="34" charset="0"/>
              </a:rPr>
              <a:t>45%</a:t>
            </a:r>
            <a:r>
              <a:rPr lang="en-US" sz="2000" dirty="0">
                <a:latin typeface="Segoe UI" panose="020B0502040204020203" pitchFamily="34" charset="0"/>
                <a:cs typeface="Segoe UI" panose="020B0502040204020203" pitchFamily="34" charset="0"/>
              </a:rPr>
              <a:t>, indicating strong profitability efficiency.</a:t>
            </a:r>
          </a:p>
          <a:p>
            <a:pPr marL="342900" indent="-342900" algn="just">
              <a:buFont typeface="Wingdings" panose="05000000000000000000" pitchFamily="2" charset="2"/>
              <a:buChar char="v"/>
            </a:pPr>
            <a:r>
              <a:rPr lang="en-US" sz="2000" b="1" dirty="0"/>
              <a:t>Regional Performance</a:t>
            </a:r>
          </a:p>
          <a:p>
            <a:pPr marL="342900" indent="-342900" algn="just">
              <a:buFont typeface="Wingdings" panose="05000000000000000000" pitchFamily="2" charset="2"/>
              <a:buChar char="v"/>
            </a:pPr>
            <a:r>
              <a:rPr lang="en-US" sz="2000" b="1" dirty="0">
                <a:latin typeface="Segoe UI" panose="020B0502040204020203" pitchFamily="34" charset="0"/>
                <a:cs typeface="Segoe UI" panose="020B0502040204020203" pitchFamily="34" charset="0"/>
              </a:rPr>
              <a:t>North America</a:t>
            </a:r>
            <a:r>
              <a:rPr lang="en-US" sz="2000" dirty="0">
                <a:latin typeface="Segoe UI" panose="020B0502040204020203" pitchFamily="34" charset="0"/>
                <a:cs typeface="Segoe UI" panose="020B0502040204020203" pitchFamily="34" charset="0"/>
              </a:rPr>
              <a:t> was the highest-selling region with approximately </a:t>
            </a:r>
            <a:r>
              <a:rPr lang="en-US" sz="2000" b="1" dirty="0">
                <a:latin typeface="Segoe UI" panose="020B0502040204020203" pitchFamily="34" charset="0"/>
                <a:cs typeface="Segoe UI" panose="020B0502040204020203" pitchFamily="34" charset="0"/>
              </a:rPr>
              <a:t>₹191.01M</a:t>
            </a:r>
            <a:r>
              <a:rPr lang="en-US" sz="2000" dirty="0">
                <a:latin typeface="Segoe UI" panose="020B0502040204020203" pitchFamily="34" charset="0"/>
                <a:cs typeface="Segoe UI" panose="020B0502040204020203" pitchFamily="34" charset="0"/>
              </a:rPr>
              <a:t> in sales.</a:t>
            </a:r>
          </a:p>
          <a:p>
            <a:pPr marL="342900" indent="-342900" algn="just">
              <a:buFont typeface="Wingdings" panose="05000000000000000000" pitchFamily="2" charset="2"/>
              <a:buChar char="v"/>
            </a:pPr>
            <a:r>
              <a:rPr lang="en-US" sz="2000" b="1" dirty="0"/>
              <a:t>Monthly Stability</a:t>
            </a:r>
          </a:p>
          <a:p>
            <a:pPr marL="342900" indent="-342900" algn="just">
              <a:buFont typeface="Wingdings" panose="05000000000000000000" pitchFamily="2" charset="2"/>
              <a:buChar char="v"/>
            </a:pPr>
            <a:r>
              <a:rPr lang="en-US" sz="2000" dirty="0">
                <a:latin typeface="Segoe UI" panose="020B0502040204020203" pitchFamily="34" charset="0"/>
                <a:cs typeface="Segoe UI" panose="020B0502040204020203" pitchFamily="34" charset="0"/>
              </a:rPr>
              <a:t>Monthly sales remained relatively stable, generally around </a:t>
            </a:r>
            <a:r>
              <a:rPr lang="en-US" sz="2000" b="1" dirty="0">
                <a:latin typeface="Segoe UI" panose="020B0502040204020203" pitchFamily="34" charset="0"/>
                <a:cs typeface="Segoe UI" panose="020B0502040204020203" pitchFamily="34" charset="0"/>
              </a:rPr>
              <a:t>₹33M–₹35M</a:t>
            </a:r>
            <a:r>
              <a:rPr lang="en-US" sz="2000" dirty="0">
                <a:latin typeface="Segoe UI" panose="020B0502040204020203" pitchFamily="34" charset="0"/>
                <a:cs typeface="Segoe UI" panose="020B0502040204020203" pitchFamily="34" charset="0"/>
              </a:rPr>
              <a:t>, suggesting consistent demand throughout the analyzed period.</a:t>
            </a:r>
          </a:p>
        </p:txBody>
      </p:sp>
    </p:spTree>
    <p:extLst>
      <p:ext uri="{BB962C8B-B14F-4D97-AF65-F5344CB8AC3E}">
        <p14:creationId xmlns:p14="http://schemas.microsoft.com/office/powerpoint/2010/main" val="941900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527DF-75B7-4CA4-9BFE-1A49B4328629}"/>
              </a:ext>
            </a:extLst>
          </p:cNvPr>
          <p:cNvSpPr>
            <a:spLocks noGrp="1"/>
          </p:cNvSpPr>
          <p:nvPr>
            <p:ph type="title"/>
          </p:nvPr>
        </p:nvSpPr>
        <p:spPr>
          <a:xfrm>
            <a:off x="677334" y="0"/>
            <a:ext cx="8596668" cy="692331"/>
          </a:xfrm>
        </p:spPr>
        <p:txBody>
          <a:bodyPr>
            <a:normAutofit/>
          </a:bodyPr>
          <a:lstStyle/>
          <a:p>
            <a:r>
              <a:rPr lang="en-IN" dirty="0"/>
              <a:t>Business Recommendations</a:t>
            </a:r>
          </a:p>
        </p:txBody>
      </p:sp>
      <p:sp>
        <p:nvSpPr>
          <p:cNvPr id="3" name="TextBox 2">
            <a:extLst>
              <a:ext uri="{FF2B5EF4-FFF2-40B4-BE49-F238E27FC236}">
                <a16:creationId xmlns:a16="http://schemas.microsoft.com/office/drawing/2014/main" id="{19275C83-9185-49F1-AD89-2A86F9365EF4}"/>
              </a:ext>
            </a:extLst>
          </p:cNvPr>
          <p:cNvSpPr txBox="1"/>
          <p:nvPr/>
        </p:nvSpPr>
        <p:spPr>
          <a:xfrm>
            <a:off x="677334" y="640539"/>
            <a:ext cx="8007532" cy="5632311"/>
          </a:xfrm>
          <a:prstGeom prst="rect">
            <a:avLst/>
          </a:prstGeom>
          <a:noFill/>
        </p:spPr>
        <p:txBody>
          <a:bodyPr wrap="square" rtlCol="0">
            <a:spAutoFit/>
          </a:bodyPr>
          <a:lstStyle/>
          <a:p>
            <a:pPr marL="285750" indent="-285750" algn="just">
              <a:buFont typeface="Wingdings" panose="05000000000000000000" pitchFamily="2" charset="2"/>
              <a:buChar char="v"/>
            </a:pPr>
            <a:r>
              <a:rPr lang="en-US" dirty="0"/>
              <a:t>Based on the analysis, the following recommendations can be considered:</a:t>
            </a:r>
          </a:p>
          <a:p>
            <a:pPr marL="342900" indent="-342900" algn="just">
              <a:buFont typeface="Wingdings" panose="05000000000000000000" pitchFamily="2" charset="2"/>
              <a:buChar char="v"/>
            </a:pPr>
            <a:r>
              <a:rPr lang="en-US" b="1" dirty="0"/>
              <a:t>Focus on High-Sales Categories:</a:t>
            </a:r>
          </a:p>
          <a:p>
            <a:pPr marL="285750" indent="-285750" algn="just">
              <a:buFont typeface="Wingdings" panose="05000000000000000000" pitchFamily="2" charset="2"/>
              <a:buChar char="v"/>
            </a:pPr>
            <a:r>
              <a:rPr lang="en-US" dirty="0"/>
              <a:t>Electronics and Grocery generate substantial revenue and should receive continued attention in inventory planning, promotions, and sales strategies.</a:t>
            </a:r>
          </a:p>
          <a:p>
            <a:pPr marL="342900" indent="-342900" algn="just">
              <a:buFont typeface="Wingdings" panose="05000000000000000000" pitchFamily="2" charset="2"/>
              <a:buChar char="v"/>
            </a:pPr>
            <a:r>
              <a:rPr lang="en-US" b="1" dirty="0"/>
              <a:t>Promote High-Margin Products:</a:t>
            </a:r>
          </a:p>
          <a:p>
            <a:pPr marL="285750" indent="-285750" algn="just">
              <a:buFont typeface="Wingdings" panose="05000000000000000000" pitchFamily="2" charset="2"/>
              <a:buChar char="v"/>
            </a:pPr>
            <a:r>
              <a:rPr lang="en-US" dirty="0"/>
              <a:t>Books demonstrate strong profitability margins. Similar high-margin products can be identified and promoted to improve overall profit efficiency.</a:t>
            </a:r>
          </a:p>
          <a:p>
            <a:pPr marL="342900" indent="-342900" algn="just">
              <a:buFont typeface="Wingdings" panose="05000000000000000000" pitchFamily="2" charset="2"/>
              <a:buChar char="v"/>
            </a:pPr>
            <a:r>
              <a:rPr lang="en-US" b="1" dirty="0"/>
              <a:t>Strengthen the North American Market:</a:t>
            </a:r>
            <a:r>
              <a:rPr lang="en-US" dirty="0"/>
              <a:t> </a:t>
            </a:r>
          </a:p>
          <a:p>
            <a:pPr marL="285750" indent="-285750" algn="just">
              <a:buFont typeface="Wingdings" panose="05000000000000000000" pitchFamily="2" charset="2"/>
              <a:buChar char="v"/>
            </a:pPr>
            <a:r>
              <a:rPr lang="en-US" dirty="0"/>
              <a:t>Since North America contributes the highest sales, targeted campaigns and customer-retention strategies can be used to further strengthen this market.</a:t>
            </a:r>
          </a:p>
          <a:p>
            <a:pPr marL="285750" indent="-285750" algn="just">
              <a:buFont typeface="Wingdings" panose="05000000000000000000" pitchFamily="2" charset="2"/>
              <a:buChar char="v"/>
            </a:pPr>
            <a:r>
              <a:rPr lang="en-US" b="1" dirty="0"/>
              <a:t>Monitor Pending and Processing Orders:</a:t>
            </a:r>
            <a:r>
              <a:rPr lang="en-US" dirty="0"/>
              <a:t> </a:t>
            </a:r>
          </a:p>
          <a:p>
            <a:pPr marL="285750" indent="-285750" algn="just">
              <a:buFont typeface="Wingdings" panose="05000000000000000000" pitchFamily="2" charset="2"/>
              <a:buChar char="v"/>
            </a:pPr>
            <a:r>
              <a:rPr lang="en-US" dirty="0"/>
              <a:t>A significant number of orders are still in Pending or Processing status. Improving fulfillment monitoring can help reduce operational delays.</a:t>
            </a:r>
          </a:p>
          <a:p>
            <a:pPr marL="285750" indent="-285750" algn="just">
              <a:buFont typeface="Wingdings" panose="05000000000000000000" pitchFamily="2" charset="2"/>
              <a:buChar char="v"/>
            </a:pPr>
            <a:r>
              <a:rPr lang="en-US" b="1" dirty="0"/>
              <a:t>Optimize Inventory:</a:t>
            </a:r>
            <a:r>
              <a:rPr lang="en-US" dirty="0"/>
              <a:t> </a:t>
            </a:r>
          </a:p>
          <a:p>
            <a:pPr marL="285750" indent="-285750" algn="just">
              <a:buFont typeface="Wingdings" panose="05000000000000000000" pitchFamily="2" charset="2"/>
              <a:buChar char="v"/>
            </a:pPr>
            <a:r>
              <a:rPr lang="en-US" dirty="0"/>
              <a:t>Inventory Days vs Profitability analysis should be monitored to identify products with excessive holding periods and optimize stock levels.</a:t>
            </a:r>
          </a:p>
        </p:txBody>
      </p:sp>
    </p:spTree>
    <p:extLst>
      <p:ext uri="{BB962C8B-B14F-4D97-AF65-F5344CB8AC3E}">
        <p14:creationId xmlns:p14="http://schemas.microsoft.com/office/powerpoint/2010/main" val="1404665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89864-B7EB-42F7-8294-F8620A0EB337}"/>
              </a:ext>
            </a:extLst>
          </p:cNvPr>
          <p:cNvSpPr>
            <a:spLocks noGrp="1"/>
          </p:cNvSpPr>
          <p:nvPr>
            <p:ph type="title"/>
          </p:nvPr>
        </p:nvSpPr>
        <p:spPr>
          <a:xfrm>
            <a:off x="677334" y="209006"/>
            <a:ext cx="8596668" cy="574765"/>
          </a:xfrm>
        </p:spPr>
        <p:txBody>
          <a:bodyPr>
            <a:normAutofit fontScale="90000"/>
          </a:bodyPr>
          <a:lstStyle/>
          <a:p>
            <a:r>
              <a:rPr lang="en-IN" dirty="0"/>
              <a:t>Conclusion</a:t>
            </a:r>
          </a:p>
        </p:txBody>
      </p:sp>
      <p:sp>
        <p:nvSpPr>
          <p:cNvPr id="4" name="TextBox 3">
            <a:extLst>
              <a:ext uri="{FF2B5EF4-FFF2-40B4-BE49-F238E27FC236}">
                <a16:creationId xmlns:a16="http://schemas.microsoft.com/office/drawing/2014/main" id="{26F8A783-7B5F-4C02-9650-1F0A032C65FC}"/>
              </a:ext>
            </a:extLst>
          </p:cNvPr>
          <p:cNvSpPr txBox="1"/>
          <p:nvPr/>
        </p:nvSpPr>
        <p:spPr>
          <a:xfrm>
            <a:off x="677334" y="836022"/>
            <a:ext cx="7722083" cy="5016758"/>
          </a:xfrm>
          <a:prstGeom prst="rect">
            <a:avLst/>
          </a:prstGeom>
          <a:noFill/>
        </p:spPr>
        <p:txBody>
          <a:bodyPr wrap="square" rtlCol="0">
            <a:spAutoFit/>
          </a:bodyPr>
          <a:lstStyle/>
          <a:p>
            <a:pPr marL="342900" indent="-342900" algn="just">
              <a:buFont typeface="Wingdings" panose="05000000000000000000" pitchFamily="2" charset="2"/>
              <a:buChar char="v"/>
            </a:pPr>
            <a:r>
              <a:rPr lang="en-US" sz="2000" dirty="0"/>
              <a:t>The Retail Business Performance &amp; Profitability Analysis project successfully transformed raw transactional data into meaningful business insights using Excel/CSV, SQL, Python, and Tableau.</a:t>
            </a:r>
          </a:p>
          <a:p>
            <a:pPr marL="342900" indent="-342900" algn="just">
              <a:buFont typeface="Wingdings" panose="05000000000000000000" pitchFamily="2" charset="2"/>
              <a:buChar char="v"/>
            </a:pPr>
            <a:r>
              <a:rPr lang="en-US" sz="2000" dirty="0"/>
              <a:t>The analysis provided a clear understanding of overall sales and profitability, category performance, regional contribution, customer segments, order status, product profitability, and inventory-related patterns.</a:t>
            </a:r>
          </a:p>
          <a:p>
            <a:pPr marL="342900" indent="-342900" algn="just">
              <a:buFont typeface="Wingdings" panose="05000000000000000000" pitchFamily="2" charset="2"/>
              <a:buChar char="v"/>
            </a:pPr>
            <a:r>
              <a:rPr lang="en-US" sz="2000" dirty="0"/>
              <a:t>The final Tableau dashboard provides an interactive and user-friendly way to monitor key business KPIs and explore performance using multiple filters.</a:t>
            </a:r>
          </a:p>
          <a:p>
            <a:pPr marL="342900" indent="-342900" algn="just">
              <a:buFont typeface="Wingdings" panose="05000000000000000000" pitchFamily="2" charset="2"/>
              <a:buChar char="v"/>
            </a:pPr>
            <a:r>
              <a:rPr lang="en-US" sz="2000" dirty="0"/>
              <a:t>Overall, the project demonstrates an end-to-end data analytics workflow and shows how data can be converted into actionable insights to support better business and operational decisions.</a:t>
            </a:r>
          </a:p>
          <a:p>
            <a:pPr algn="just"/>
            <a:endParaRPr lang="en-IN" sz="2000" dirty="0"/>
          </a:p>
        </p:txBody>
      </p:sp>
    </p:spTree>
    <p:extLst>
      <p:ext uri="{BB962C8B-B14F-4D97-AF65-F5344CB8AC3E}">
        <p14:creationId xmlns:p14="http://schemas.microsoft.com/office/powerpoint/2010/main" val="176315334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144</TotalTime>
  <Words>1052</Words>
  <Application>Microsoft Office PowerPoint</Application>
  <PresentationFormat>Widescreen</PresentationFormat>
  <Paragraphs>142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Segoe UI</vt:lpstr>
      <vt:lpstr>Trebuchet MS</vt:lpstr>
      <vt:lpstr>Wingdings</vt:lpstr>
      <vt:lpstr>Wingdings 3</vt:lpstr>
      <vt:lpstr>Facet</vt:lpstr>
      <vt:lpstr>Retail Business Performance &amp; Profitability Analysis </vt:lpstr>
      <vt:lpstr>Executive Summary</vt:lpstr>
      <vt:lpstr>Project Objective</vt:lpstr>
      <vt:lpstr>Dataset Description</vt:lpstr>
      <vt:lpstr>Tools &amp; Technologies</vt:lpstr>
      <vt:lpstr>Data Preparation &amp; Cleaning</vt:lpstr>
      <vt:lpstr>Analytical Approach</vt:lpstr>
      <vt:lpstr>SQL Analysis</vt:lpstr>
      <vt:lpstr>Python Exploratory Data Analysis</vt:lpstr>
      <vt:lpstr>   Dashboard Visualizations</vt:lpstr>
      <vt:lpstr>Key Business Insights</vt:lpstr>
      <vt:lpstr>Business Recommendations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Business Performance &amp; Profitability Analysis</dc:title>
  <dc:creator>Nitesh Prajapati</dc:creator>
  <cp:lastModifiedBy>Nitesh Prajapati</cp:lastModifiedBy>
  <cp:revision>22</cp:revision>
  <dcterms:created xsi:type="dcterms:W3CDTF">2026-10-08T01:03:31Z</dcterms:created>
  <dcterms:modified xsi:type="dcterms:W3CDTF">2026-10-08T03:28:01Z</dcterms:modified>
</cp:coreProperties>
</file>